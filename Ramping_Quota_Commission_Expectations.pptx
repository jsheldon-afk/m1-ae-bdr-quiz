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Lora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ora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ora-boldItalic.fntdata"/><Relationship Id="rId30" Type="http://schemas.openxmlformats.org/officeDocument/2006/relationships/font" Target="fonts/Lora-italic.fntdata"/><Relationship Id="rId11" Type="http://schemas.openxmlformats.org/officeDocument/2006/relationships/slide" Target="slides/slide5.xml"/><Relationship Id="rId33" Type="http://schemas.openxmlformats.org/officeDocument/2006/relationships/font" Target="fonts/DMSans-bold.fntdata"/><Relationship Id="rId10" Type="http://schemas.openxmlformats.org/officeDocument/2006/relationships/slide" Target="slides/slide4.xml"/><Relationship Id="rId32" Type="http://schemas.openxmlformats.org/officeDocument/2006/relationships/font" Target="fonts/DMSans-regular.fntdata"/><Relationship Id="rId13" Type="http://schemas.openxmlformats.org/officeDocument/2006/relationships/slide" Target="slides/slide7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a122fec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a122fec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7a95807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7a95807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71625aa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71625aa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f68b59853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ef68b59853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ef68b59853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31119cb8b_4_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e31119cb8b_4_4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31119cb8b_4_4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8fbb944e_1_5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fa8fbb944e_1_5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a8fbb944e_1_5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a8fbb944e_1_1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a8fbb944e_1_11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a8fbb944e_1_11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a8fbb944e_1_2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fa8fbb944e_1_25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fa8fbb944e_1_25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a8fbb944e_1_2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fa8fbb944e_1_27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 callback should require NEW information. For restaurant sales this is gold.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 would almost rather have: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1 meeting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5 named DMs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than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2 meetings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Because the named DMs compound.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After 60 days your territory becomes: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Tony owns it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Sarah runs ops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Mike handles marketing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Jennifer opens location #2 in August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Now connect rates explode.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Otherwise, you start gaming yourself.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Bad: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225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"Call back Friday"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22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"Try again later"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22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"Owner wasn't there"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Good: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225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"Owner Tony is in Tues/Thurs after 2pm."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22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"GM Sarah reviews marketing vendors on Mondays."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22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"Owner returns from vacation June 15."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22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"Restaurant group meeting is next Wednesday."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My rule would be: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No new information = no callback credit.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fa8fbb944e_1_278:notes"/>
          <p:cNvSpPr txBox="1"/>
          <p:nvPr>
            <p:ph idx="12" type="sldNum"/>
          </p:nvPr>
        </p:nvSpPr>
        <p:spPr>
          <a:xfrm>
            <a:off x="3884613" y="6513910"/>
            <a:ext cx="29721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f68b5985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f68b5985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f68b59853_0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ef68b59853_0_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ef68b59853_0_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f68b59853_0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ef68b59853_0_1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f68b59853_0_1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f68b59853_0_1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ef68b59853_0_14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ef68b59853_0_14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a8fbb944e_1_1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fa8fbb944e_1_16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a8fbb944e_1_16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f68b5985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ef68b5985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071625a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071625a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a8fbb944e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fa8fbb944e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071625aa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b071625aa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b071625aae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b071625aae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071625aae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b071625aae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31119cb8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e31119cb8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3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4">
    <p:bg>
      <p:bgPr>
        <a:solidFill>
          <a:srgbClr val="FFFDF7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5">
  <p:cSld name="TITLE_AND_BODY_5">
    <p:bg>
      <p:bgPr>
        <a:solidFill>
          <a:srgbClr val="FFFDF7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6">
  <p:cSld name="TITLE_AND_BODY_6">
    <p:bg>
      <p:bgPr>
        <a:solidFill>
          <a:srgbClr val="FFFDF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7">
  <p:cSld name="TITLE_AND_BODY_7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8">
  <p:cSld name="TITLE_AND_BODY_8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9">
  <p:cSld name="TITLE_AND_BODY_9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0">
  <p:cSld name="TITLE_AND_BODY_10">
    <p:bg>
      <p:bgPr>
        <a:solidFill>
          <a:srgbClr val="FFFDF7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1">
  <p:cSld name="TITLE_AND_BODY_11">
    <p:bg>
      <p:bgPr>
        <a:solidFill>
          <a:srgbClr val="FFFDF7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2">
  <p:cSld name="TITLE_AND_BODY_12">
    <p:bg>
      <p:bgPr>
        <a:solidFill>
          <a:srgbClr val="FFFDF7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3">
  <p:cSld name="TITLE_AND_BODY_13">
    <p:bg>
      <p:bgPr>
        <a:solidFill>
          <a:srgbClr val="FFFDF7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4">
  <p:cSld name="TITLE_AND_BODY_14">
    <p:bg>
      <p:bgPr>
        <a:solidFill>
          <a:srgbClr val="FFFDF7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5">
  <p:cSld name="TITLE_AND_BODY_15">
    <p:bg>
      <p:bgPr>
        <a:solidFill>
          <a:srgbClr val="FFFDF7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6">
  <p:cSld name="TITLE_AND_BODY_16">
    <p:bg>
      <p:bgPr>
        <a:solidFill>
          <a:srgbClr val="FFFDF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7">
  <p:cSld name="TITLE_AND_BODY_17">
    <p:bg>
      <p:bgPr>
        <a:solidFill>
          <a:srgbClr val="FFFDF7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8">
  <p:cSld name="TITLE_AND_BODY_18">
    <p:bg>
      <p:bgPr>
        <a:solidFill>
          <a:srgbClr val="FFFDF7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9">
  <p:cSld name="TITLE_AND_BODY_19">
    <p:bg>
      <p:bgPr>
        <a:solidFill>
          <a:srgbClr val="FFFDF7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0">
  <p:cSld name="TITLE_AND_BODY_20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1">
  <p:cSld name="TITLE_AND_BODY_21">
    <p:bg>
      <p:bgPr>
        <a:solidFill>
          <a:srgbClr val="FFFDF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70" name="Google Shape;70;p22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2">
  <p:cSld name="TITLE_AND_BODY_22">
    <p:bg>
      <p:bgPr>
        <a:solidFill>
          <a:srgbClr val="FFFDF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3">
  <p:cSld name="TITLE_AND_BODY_23">
    <p:bg>
      <p:bgPr>
        <a:solidFill>
          <a:srgbClr val="FFFDF7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4">
  <p:cSld name="TITLE_AND_BODY_24">
    <p:bg>
      <p:bgPr>
        <a:solidFill>
          <a:srgbClr val="FFFDF7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5">
  <p:cSld name="TITLE_AND_BODY_25">
    <p:bg>
      <p:bgPr>
        <a:solidFill>
          <a:srgbClr val="FFFDF7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82" name="Google Shape;82;p26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6">
  <p:cSld name="TITLE_AND_BODY_26">
    <p:bg>
      <p:bgPr>
        <a:solidFill>
          <a:srgbClr val="FFFD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7">
  <p:cSld name="TITLE_AND_BODY_27">
    <p:bg>
      <p:bgPr>
        <a:solidFill>
          <a:srgbClr val="FFFDF7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6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8">
  <p:cSld name="TITLE_AND_BODY_28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9">
  <p:cSld name="TITLE_AND_BODY_29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 txBox="1"/>
          <p:nvPr/>
        </p:nvSpPr>
        <p:spPr>
          <a:xfrm rot="1713">
            <a:off x="740471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© 2020 SEATED TECHNOLOGIES 	 CONFIDENTIAL	  V1.0</a:t>
            </a:r>
            <a:endParaRPr sz="500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33757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l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0">
  <p:cSld name="TITLE_AND_BODY_30">
    <p:bg>
      <p:bgPr>
        <a:solidFill>
          <a:srgbClr val="FFFDF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2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© 2020 SEATED TECHNOLOGIES 	 CONFIDENTIAL</a:t>
            </a:r>
            <a:endParaRPr sz="500">
              <a:solidFill>
                <a:srgbClr val="999999"/>
              </a:solidFill>
            </a:endParaRPr>
          </a:p>
        </p:txBody>
      </p:sp>
      <p:sp>
        <p:nvSpPr>
          <p:cNvPr id="97" name="Google Shape;97;p32"/>
          <p:cNvSpPr txBox="1"/>
          <p:nvPr>
            <p:ph idx="12" type="sldNum"/>
          </p:nvPr>
        </p:nvSpPr>
        <p:spPr>
          <a:xfrm>
            <a:off x="8600524" y="4630750"/>
            <a:ext cx="32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1pPr>
            <a:lvl2pPr lvl="1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2pPr>
            <a:lvl3pPr lvl="2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3pPr>
            <a:lvl4pPr lvl="3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4pPr>
            <a:lvl5pPr lvl="4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5pPr>
            <a:lvl6pPr lvl="5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6pPr>
            <a:lvl7pPr lvl="6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7pPr>
            <a:lvl8pPr lvl="7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8pPr>
            <a:lvl9pPr lvl="8" rtl="0" algn="r">
              <a:buNone/>
              <a:defRPr sz="600"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0" name="Google Shape;100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33"/>
          <p:cNvSpPr txBox="1"/>
          <p:nvPr/>
        </p:nvSpPr>
        <p:spPr>
          <a:xfrm rot="1713">
            <a:off x="230896" y="4691061"/>
            <a:ext cx="3612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">
                <a:solidFill>
                  <a:srgbClr val="999999"/>
                </a:solidFill>
              </a:rPr>
              <a:t>CONFIDENTIAL</a:t>
            </a:r>
            <a:endParaRPr sz="5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7"/>
          <p:cNvPicPr preferRelativeResize="0"/>
          <p:nvPr/>
        </p:nvPicPr>
        <p:blipFill rotWithShape="1">
          <a:blip r:embed="rId3">
            <a:alphaModFix/>
          </a:blip>
          <a:srcRect b="14289" l="0" r="2325" t="17961"/>
          <a:stretch/>
        </p:blipFill>
        <p:spPr>
          <a:xfrm>
            <a:off x="0" y="0"/>
            <a:ext cx="9308325" cy="5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550" y="556951"/>
            <a:ext cx="1413400" cy="31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"/>
          <p:cNvSpPr txBox="1"/>
          <p:nvPr/>
        </p:nvSpPr>
        <p:spPr>
          <a:xfrm>
            <a:off x="1254300" y="1993725"/>
            <a:ext cx="66354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Ramping Quota &amp; Commission &amp; Expectations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9"/>
          <p:cNvSpPr/>
          <p:nvPr/>
        </p:nvSpPr>
        <p:spPr>
          <a:xfrm>
            <a:off x="391575" y="895250"/>
            <a:ext cx="7874700" cy="285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Ramp gives you time to learn and fail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ASK QUESTIONS!!!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Reach out to your peers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You will not know everything right away, don’t pretend you do - be PATIENT with yourself as you are learning.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most important things during your ramp period is your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attitude, effort and coachability - the three things you can control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Embrace the learning curve - embrace the discomfort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Listen to your manager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more you put into it the more you will get out of it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Set the bar high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Your brand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0"/>
          <p:cNvSpPr/>
          <p:nvPr/>
        </p:nvSpPr>
        <p:spPr>
          <a:xfrm>
            <a:off x="411480" y="182880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Georgia"/>
              <a:buNone/>
            </a:pPr>
            <a:r>
              <a:rPr b="1" lang="en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M1 BDRs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0"/>
          <p:cNvSpPr/>
          <p:nvPr/>
        </p:nvSpPr>
        <p:spPr>
          <a:xfrm>
            <a:off x="411480" y="1874520"/>
            <a:ext cx="1188600" cy="47550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0"/>
          <p:cNvSpPr/>
          <p:nvPr/>
        </p:nvSpPr>
        <p:spPr>
          <a:xfrm>
            <a:off x="1600200" y="1874520"/>
            <a:ext cx="1188600" cy="47550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0"/>
          <p:cNvSpPr/>
          <p:nvPr/>
        </p:nvSpPr>
        <p:spPr>
          <a:xfrm>
            <a:off x="2788920" y="1874520"/>
            <a:ext cx="1188600" cy="47550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0"/>
          <p:cNvSpPr/>
          <p:nvPr/>
        </p:nvSpPr>
        <p:spPr>
          <a:xfrm>
            <a:off x="3977640" y="1874520"/>
            <a:ext cx="1188600" cy="475500"/>
          </a:xfrm>
          <a:prstGeom prst="rect">
            <a:avLst/>
          </a:prstGeom>
          <a:solidFill>
            <a:srgbClr val="FFD85F"/>
          </a:solidFill>
          <a:ln cap="flat" cmpd="sng" w="19050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0"/>
          <p:cNvSpPr/>
          <p:nvPr/>
        </p:nvSpPr>
        <p:spPr>
          <a:xfrm>
            <a:off x="3977640" y="1874520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Georgia"/>
              <a:buNone/>
            </a:pPr>
            <a:r>
              <a:rPr b="1" i="0" lang="en" sz="1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0"/>
          <p:cNvSpPr/>
          <p:nvPr/>
        </p:nvSpPr>
        <p:spPr>
          <a:xfrm>
            <a:off x="5166360" y="1874520"/>
            <a:ext cx="1188600" cy="475500"/>
          </a:xfrm>
          <a:prstGeom prst="rect">
            <a:avLst/>
          </a:prstGeom>
          <a:solidFill>
            <a:srgbClr val="FFD85F"/>
          </a:solidFill>
          <a:ln cap="flat" cmpd="sng" w="19050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0"/>
          <p:cNvSpPr/>
          <p:nvPr/>
        </p:nvSpPr>
        <p:spPr>
          <a:xfrm>
            <a:off x="5166360" y="1874520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Georgia"/>
              <a:buNone/>
            </a:pPr>
            <a:r>
              <a:rPr b="1" i="0" lang="en" sz="1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50%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0"/>
          <p:cNvSpPr/>
          <p:nvPr/>
        </p:nvSpPr>
        <p:spPr>
          <a:xfrm>
            <a:off x="6355080" y="1874520"/>
            <a:ext cx="1188600" cy="475500"/>
          </a:xfrm>
          <a:prstGeom prst="rect">
            <a:avLst/>
          </a:prstGeom>
          <a:solidFill>
            <a:srgbClr val="FFD85F"/>
          </a:solidFill>
          <a:ln cap="flat" cmpd="sng" w="19050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0"/>
          <p:cNvSpPr/>
          <p:nvPr/>
        </p:nvSpPr>
        <p:spPr>
          <a:xfrm>
            <a:off x="6355080" y="1874520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Georgia"/>
              <a:buNone/>
            </a:pPr>
            <a:r>
              <a:rPr b="1" i="0" lang="en" sz="1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75%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0"/>
          <p:cNvSpPr/>
          <p:nvPr/>
        </p:nvSpPr>
        <p:spPr>
          <a:xfrm>
            <a:off x="7543800" y="1874520"/>
            <a:ext cx="1188600" cy="47550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0"/>
          <p:cNvSpPr/>
          <p:nvPr/>
        </p:nvSpPr>
        <p:spPr>
          <a:xfrm>
            <a:off x="411480" y="1874520"/>
            <a:ext cx="3566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Prospecting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0"/>
          <p:cNvSpPr/>
          <p:nvPr/>
        </p:nvSpPr>
        <p:spPr>
          <a:xfrm>
            <a:off x="7589530" y="1906532"/>
            <a:ext cx="109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100% 🎯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0"/>
          <p:cNvSpPr/>
          <p:nvPr/>
        </p:nvSpPr>
        <p:spPr>
          <a:xfrm>
            <a:off x="228600" y="2414016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Georgia"/>
              <a:buNone/>
            </a:pPr>
            <a:r>
              <a:rPr lang="en" sz="11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September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0"/>
          <p:cNvSpPr/>
          <p:nvPr/>
        </p:nvSpPr>
        <p:spPr>
          <a:xfrm>
            <a:off x="1417320" y="2414016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Georgia"/>
              <a:buNone/>
            </a:pPr>
            <a:r>
              <a:rPr lang="en" sz="11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October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0"/>
          <p:cNvSpPr/>
          <p:nvPr/>
        </p:nvSpPr>
        <p:spPr>
          <a:xfrm>
            <a:off x="3794760" y="2414016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Georgia"/>
              <a:buNone/>
            </a:pPr>
            <a:r>
              <a:rPr lang="en" sz="11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November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0"/>
          <p:cNvSpPr/>
          <p:nvPr/>
        </p:nvSpPr>
        <p:spPr>
          <a:xfrm>
            <a:off x="4983480" y="2414016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Georgia"/>
              <a:buNone/>
            </a:pPr>
            <a:r>
              <a:rPr lang="en" sz="11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December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0"/>
          <p:cNvSpPr/>
          <p:nvPr/>
        </p:nvSpPr>
        <p:spPr>
          <a:xfrm>
            <a:off x="6172200" y="2414016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Georgia"/>
              <a:buNone/>
            </a:pPr>
            <a:r>
              <a:rPr lang="en" sz="11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January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0"/>
          <p:cNvSpPr/>
          <p:nvPr/>
        </p:nvSpPr>
        <p:spPr>
          <a:xfrm>
            <a:off x="7360920" y="2414016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Georgia"/>
              <a:buNone/>
            </a:pPr>
            <a:r>
              <a:rPr lang="en" sz="11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February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0"/>
          <p:cNvSpPr/>
          <p:nvPr/>
        </p:nvSpPr>
        <p:spPr>
          <a:xfrm>
            <a:off x="932688" y="2276856"/>
            <a:ext cx="146400" cy="14640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40"/>
          <p:cNvCxnSpPr/>
          <p:nvPr/>
        </p:nvCxnSpPr>
        <p:spPr>
          <a:xfrm>
            <a:off x="1005840" y="242316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40"/>
          <p:cNvSpPr/>
          <p:nvPr/>
        </p:nvSpPr>
        <p:spPr>
          <a:xfrm>
            <a:off x="365760" y="2990088"/>
            <a:ext cx="1280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Get really good 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booking meetings that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hold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0"/>
          <p:cNvSpPr/>
          <p:nvPr/>
        </p:nvSpPr>
        <p:spPr>
          <a:xfrm>
            <a:off x="2715768" y="2276856"/>
            <a:ext cx="146400" cy="14640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40"/>
          <p:cNvCxnSpPr/>
          <p:nvPr/>
        </p:nvCxnSpPr>
        <p:spPr>
          <a:xfrm>
            <a:off x="2788920" y="242316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0"/>
          <p:cNvSpPr/>
          <p:nvPr/>
        </p:nvSpPr>
        <p:spPr>
          <a:xfrm>
            <a:off x="2715765" y="2853063"/>
            <a:ext cx="1280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Master the script &amp;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own the demo 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no practicing on prospects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0"/>
          <p:cNvSpPr/>
          <p:nvPr/>
        </p:nvSpPr>
        <p:spPr>
          <a:xfrm>
            <a:off x="4498848" y="2276856"/>
            <a:ext cx="146400" cy="14640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40"/>
          <p:cNvCxnSpPr/>
          <p:nvPr/>
        </p:nvCxnSpPr>
        <p:spPr>
          <a:xfrm>
            <a:off x="4572000" y="242316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40"/>
          <p:cNvSpPr/>
          <p:nvPr/>
        </p:nvSpPr>
        <p:spPr>
          <a:xfrm>
            <a:off x="3931920" y="2990088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1" lang="en" sz="850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October </a:t>
            </a:r>
            <a:br>
              <a:rPr b="1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25% of FR Quota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0"/>
          <p:cNvSpPr/>
          <p:nvPr/>
        </p:nvSpPr>
        <p:spPr>
          <a:xfrm>
            <a:off x="5687568" y="2276856"/>
            <a:ext cx="146400" cy="14640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" name="Google Shape;156;p40"/>
          <p:cNvCxnSpPr/>
          <p:nvPr/>
        </p:nvCxnSpPr>
        <p:spPr>
          <a:xfrm>
            <a:off x="5760720" y="242316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40"/>
          <p:cNvSpPr/>
          <p:nvPr/>
        </p:nvSpPr>
        <p:spPr>
          <a:xfrm>
            <a:off x="5120640" y="2990088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1" lang="en" sz="850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November</a:t>
            </a:r>
            <a:br>
              <a:rPr b="1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50% of quota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0"/>
          <p:cNvSpPr/>
          <p:nvPr/>
        </p:nvSpPr>
        <p:spPr>
          <a:xfrm>
            <a:off x="6876288" y="2276856"/>
            <a:ext cx="146400" cy="146400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" name="Google Shape;159;p40"/>
          <p:cNvCxnSpPr/>
          <p:nvPr/>
        </p:nvCxnSpPr>
        <p:spPr>
          <a:xfrm>
            <a:off x="6949440" y="242316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40"/>
          <p:cNvSpPr/>
          <p:nvPr/>
        </p:nvSpPr>
        <p:spPr>
          <a:xfrm>
            <a:off x="6309460" y="2988476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1" lang="en" sz="850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December</a:t>
            </a:r>
            <a:br>
              <a:rPr b="1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Georgia"/>
              <a:buNone/>
            </a:pPr>
            <a:r>
              <a:rPr b="0" i="0" lang="en" sz="850" u="none" cap="none" strike="noStrike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75% of quota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0"/>
          <p:cNvSpPr/>
          <p:nvPr/>
        </p:nvSpPr>
        <p:spPr>
          <a:xfrm>
            <a:off x="1645901" y="3922925"/>
            <a:ext cx="6440100" cy="6858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0"/>
          <p:cNvSpPr/>
          <p:nvPr/>
        </p:nvSpPr>
        <p:spPr>
          <a:xfrm>
            <a:off x="1645920" y="3950420"/>
            <a:ext cx="5852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Georgia"/>
              <a:buNone/>
            </a:pPr>
            <a:r>
              <a:rPr i="1" lang="en" sz="13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Five </a:t>
            </a:r>
            <a:r>
              <a:rPr b="0" i="1" lang="en" sz="1300" u="none" cap="none" strike="noStrike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months to build your foundation — then it's game time. Full quota hits </a:t>
            </a:r>
            <a:r>
              <a:rPr i="1" lang="en" sz="13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January </a:t>
            </a:r>
            <a:r>
              <a:rPr b="0" i="1" lang="en" sz="1300" u="none" cap="none" strike="noStrike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1"/>
          <p:cNvSpPr/>
          <p:nvPr/>
        </p:nvSpPr>
        <p:spPr>
          <a:xfrm>
            <a:off x="298700" y="91425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Times New Roman"/>
              <a:buNone/>
            </a:pPr>
            <a:r>
              <a:rPr b="1" i="0" lang="en" sz="29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KPI Expectations </a:t>
            </a:r>
            <a:r>
              <a:rPr b="1" lang="en" sz="2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following your second week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1"/>
          <p:cNvSpPr/>
          <p:nvPr/>
        </p:nvSpPr>
        <p:spPr>
          <a:xfrm>
            <a:off x="457200" y="6400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imes New Roman"/>
              <a:buNone/>
            </a:pPr>
            <a:r>
              <a:t/>
            </a:r>
            <a:endParaRPr b="1" i="0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1"/>
          <p:cNvSpPr/>
          <p:nvPr/>
        </p:nvSpPr>
        <p:spPr>
          <a:xfrm>
            <a:off x="365760" y="960120"/>
            <a:ext cx="8412600" cy="4116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1"/>
          <p:cNvSpPr/>
          <p:nvPr/>
        </p:nvSpPr>
        <p:spPr>
          <a:xfrm>
            <a:off x="365760" y="960120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1"/>
          <p:cNvSpPr/>
          <p:nvPr/>
        </p:nvSpPr>
        <p:spPr>
          <a:xfrm>
            <a:off x="5029200" y="96012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1"/>
          <p:cNvSpPr/>
          <p:nvPr/>
        </p:nvSpPr>
        <p:spPr>
          <a:xfrm>
            <a:off x="7132320" y="96012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1"/>
          <p:cNvSpPr/>
          <p:nvPr/>
        </p:nvSpPr>
        <p:spPr>
          <a:xfrm>
            <a:off x="365760" y="1371600"/>
            <a:ext cx="8412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1"/>
          <p:cNvSpPr/>
          <p:nvPr/>
        </p:nvSpPr>
        <p:spPr>
          <a:xfrm>
            <a:off x="365760" y="1371600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</a:t>
            </a:r>
            <a:r>
              <a:rPr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Accounts to add to your cadence per 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1"/>
          <p:cNvSpPr/>
          <p:nvPr/>
        </p:nvSpPr>
        <p:spPr>
          <a:xfrm>
            <a:off x="5029200" y="1371600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7360920" y="1444752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1"/>
          <p:cNvSpPr/>
          <p:nvPr/>
        </p:nvSpPr>
        <p:spPr>
          <a:xfrm>
            <a:off x="7360920" y="1444752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1"/>
          <p:cNvSpPr/>
          <p:nvPr/>
        </p:nvSpPr>
        <p:spPr>
          <a:xfrm>
            <a:off x="365760" y="1792224"/>
            <a:ext cx="8412600" cy="4206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1"/>
          <p:cNvSpPr/>
          <p:nvPr/>
        </p:nvSpPr>
        <p:spPr>
          <a:xfrm>
            <a:off x="365760" y="1792224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Dials / Calls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1"/>
          <p:cNvSpPr/>
          <p:nvPr/>
        </p:nvSpPr>
        <p:spPr>
          <a:xfrm>
            <a:off x="5029200" y="1792224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1"/>
          <p:cNvSpPr/>
          <p:nvPr/>
        </p:nvSpPr>
        <p:spPr>
          <a:xfrm>
            <a:off x="7360920" y="1865376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1"/>
          <p:cNvSpPr/>
          <p:nvPr/>
        </p:nvSpPr>
        <p:spPr>
          <a:xfrm>
            <a:off x="7360920" y="1865376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1"/>
          <p:cNvSpPr/>
          <p:nvPr/>
        </p:nvSpPr>
        <p:spPr>
          <a:xfrm>
            <a:off x="365760" y="2212848"/>
            <a:ext cx="8412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1"/>
          <p:cNvSpPr/>
          <p:nvPr/>
        </p:nvSpPr>
        <p:spPr>
          <a:xfrm>
            <a:off x="365760" y="2212848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: DM Ratio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1"/>
          <p:cNvSpPr/>
          <p:nvPr/>
        </p:nvSpPr>
        <p:spPr>
          <a:xfrm>
            <a:off x="5029200" y="2212848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15:1 or better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1"/>
          <p:cNvSpPr/>
          <p:nvPr/>
        </p:nvSpPr>
        <p:spPr>
          <a:xfrm>
            <a:off x="7360920" y="2286000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1"/>
          <p:cNvSpPr/>
          <p:nvPr/>
        </p:nvSpPr>
        <p:spPr>
          <a:xfrm>
            <a:off x="7360920" y="228600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i="0" lang="en" sz="12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12:1 or better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1"/>
          <p:cNvSpPr/>
          <p:nvPr/>
        </p:nvSpPr>
        <p:spPr>
          <a:xfrm>
            <a:off x="365760" y="2633472"/>
            <a:ext cx="8412600" cy="4206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1"/>
          <p:cNvSpPr/>
          <p:nvPr/>
        </p:nvSpPr>
        <p:spPr>
          <a:xfrm>
            <a:off x="365760" y="2633472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Talk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1"/>
          <p:cNvSpPr/>
          <p:nvPr/>
        </p:nvSpPr>
        <p:spPr>
          <a:xfrm>
            <a:off x="5029200" y="2633472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b="1" i="0" lang="en" sz="14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1"/>
          <p:cNvSpPr/>
          <p:nvPr/>
        </p:nvSpPr>
        <p:spPr>
          <a:xfrm>
            <a:off x="7360920" y="2706624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1"/>
          <p:cNvSpPr/>
          <p:nvPr/>
        </p:nvSpPr>
        <p:spPr>
          <a:xfrm>
            <a:off x="7360920" y="2706624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1"/>
          <p:cNvSpPr/>
          <p:nvPr/>
        </p:nvSpPr>
        <p:spPr>
          <a:xfrm>
            <a:off x="365760" y="3054096"/>
            <a:ext cx="8412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1"/>
          <p:cNvSpPr/>
          <p:nvPr/>
        </p:nvSpPr>
        <p:spPr>
          <a:xfrm>
            <a:off x="365760" y="3054096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 / DM Connects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1"/>
          <p:cNvSpPr/>
          <p:nvPr/>
        </p:nvSpPr>
        <p:spPr>
          <a:xfrm>
            <a:off x="5029200" y="3054096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1"/>
          <p:cNvSpPr/>
          <p:nvPr/>
        </p:nvSpPr>
        <p:spPr>
          <a:xfrm>
            <a:off x="7360920" y="3127248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1"/>
          <p:cNvSpPr/>
          <p:nvPr/>
        </p:nvSpPr>
        <p:spPr>
          <a:xfrm>
            <a:off x="7360920" y="3127248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1" i="0" lang="en" sz="1300" u="none" cap="none" strike="noStrike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365760" y="3474720"/>
            <a:ext cx="8412600" cy="4206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1"/>
          <p:cNvSpPr/>
          <p:nvPr/>
        </p:nvSpPr>
        <p:spPr>
          <a:xfrm>
            <a:off x="365760" y="3474720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DM→ Meeting Conversion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5029200" y="3474720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1"/>
          <p:cNvSpPr/>
          <p:nvPr/>
        </p:nvSpPr>
        <p:spPr>
          <a:xfrm>
            <a:off x="7360920" y="3547872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1"/>
          <p:cNvSpPr/>
          <p:nvPr/>
        </p:nvSpPr>
        <p:spPr>
          <a:xfrm>
            <a:off x="7360920" y="3547872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40%+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1"/>
          <p:cNvSpPr/>
          <p:nvPr/>
        </p:nvSpPr>
        <p:spPr>
          <a:xfrm>
            <a:off x="365760" y="3895344"/>
            <a:ext cx="8412600" cy="42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1"/>
          <p:cNvSpPr/>
          <p:nvPr/>
        </p:nvSpPr>
        <p:spPr>
          <a:xfrm>
            <a:off x="365760" y="3895344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Meetings Scheduled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1"/>
          <p:cNvSpPr/>
          <p:nvPr/>
        </p:nvSpPr>
        <p:spPr>
          <a:xfrm>
            <a:off x="5029200" y="3895344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~2/ 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1"/>
          <p:cNvSpPr/>
          <p:nvPr/>
        </p:nvSpPr>
        <p:spPr>
          <a:xfrm>
            <a:off x="7360920" y="3968496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1"/>
          <p:cNvSpPr/>
          <p:nvPr/>
        </p:nvSpPr>
        <p:spPr>
          <a:xfrm>
            <a:off x="7360920" y="3968496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 day potential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1"/>
          <p:cNvSpPr/>
          <p:nvPr/>
        </p:nvSpPr>
        <p:spPr>
          <a:xfrm>
            <a:off x="365760" y="4315968"/>
            <a:ext cx="8412600" cy="4206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1"/>
          <p:cNvSpPr/>
          <p:nvPr/>
        </p:nvSpPr>
        <p:spPr>
          <a:xfrm>
            <a:off x="365760" y="4315968"/>
            <a:ext cx="457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1"/>
          <p:cNvSpPr/>
          <p:nvPr/>
        </p:nvSpPr>
        <p:spPr>
          <a:xfrm>
            <a:off x="5029200" y="4315968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Times New Roman"/>
              <a:buNone/>
            </a:pPr>
            <a:r>
              <a:rPr b="1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1"/>
          <p:cNvSpPr/>
          <p:nvPr/>
        </p:nvSpPr>
        <p:spPr>
          <a:xfrm>
            <a:off x="7360920" y="4389120"/>
            <a:ext cx="1280100" cy="274200"/>
          </a:xfrm>
          <a:prstGeom prst="rect">
            <a:avLst/>
          </a:prstGeom>
          <a:solidFill>
            <a:srgbClr val="F9DF6F"/>
          </a:solidFill>
          <a:ln cap="flat" cmpd="sng" w="12700">
            <a:solidFill>
              <a:srgbClr val="F9D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1"/>
          <p:cNvSpPr/>
          <p:nvPr/>
        </p:nvSpPr>
        <p:spPr>
          <a:xfrm>
            <a:off x="7360920" y="438912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Times New Roman"/>
              <a:buNone/>
            </a:pPr>
            <a:r>
              <a:rPr b="1" lang="en" sz="13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/>
          <p:nvPr/>
        </p:nvSpPr>
        <p:spPr>
          <a:xfrm>
            <a:off x="411480" y="356616"/>
            <a:ext cx="288000" cy="288000"/>
          </a:xfrm>
          <a:prstGeom prst="ellipse">
            <a:avLst/>
          </a:prstGeom>
          <a:solidFill>
            <a:srgbClr val="F3C86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2"/>
          <p:cNvSpPr/>
          <p:nvPr/>
        </p:nvSpPr>
        <p:spPr>
          <a:xfrm>
            <a:off x="411480" y="35661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2"/>
          <p:cNvSpPr/>
          <p:nvPr/>
        </p:nvSpPr>
        <p:spPr>
          <a:xfrm>
            <a:off x="795528" y="356616"/>
            <a:ext cx="548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512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6512"/>
                </a:solidFill>
                <a:latin typeface="Calibri"/>
                <a:ea typeface="Calibri"/>
                <a:cs typeface="Calibri"/>
                <a:sym typeface="Calibri"/>
              </a:rPr>
              <a:t>DAILY OPERATING RHYTHM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2"/>
          <p:cNvSpPr/>
          <p:nvPr/>
        </p:nvSpPr>
        <p:spPr>
          <a:xfrm>
            <a:off x="411480" y="672084"/>
            <a:ext cx="8320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221E18"/>
                </a:solidFill>
                <a:latin typeface="Cambria"/>
                <a:ea typeface="Cambria"/>
                <a:cs typeface="Cambria"/>
                <a:sym typeface="Cambria"/>
              </a:rPr>
              <a:t>How to Run Your Day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2"/>
          <p:cNvSpPr/>
          <p:nvPr/>
        </p:nvSpPr>
        <p:spPr>
          <a:xfrm>
            <a:off x="411480" y="1289304"/>
            <a:ext cx="8320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75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E675E"/>
                </a:solidFill>
                <a:latin typeface="Calibri"/>
                <a:ea typeface="Calibri"/>
                <a:cs typeface="Calibri"/>
                <a:sym typeface="Calibri"/>
              </a:rPr>
              <a:t>Prime call time is for calling. Clean and build tomorrow's list in the dead zone, not the power blocks.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2"/>
          <p:cNvSpPr/>
          <p:nvPr/>
        </p:nvSpPr>
        <p:spPr>
          <a:xfrm>
            <a:off x="411480" y="1357884"/>
            <a:ext cx="8320800" cy="288000"/>
          </a:xfrm>
          <a:prstGeom prst="rect">
            <a:avLst/>
          </a:prstGeom>
          <a:solidFill>
            <a:srgbClr val="F3C86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2"/>
          <p:cNvSpPr/>
          <p:nvPr/>
        </p:nvSpPr>
        <p:spPr>
          <a:xfrm>
            <a:off x="411480" y="1357884"/>
            <a:ext cx="1302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2"/>
          <p:cNvSpPr/>
          <p:nvPr/>
        </p:nvSpPr>
        <p:spPr>
          <a:xfrm>
            <a:off x="1714500" y="1357884"/>
            <a:ext cx="4046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5760720" y="1357884"/>
            <a:ext cx="2969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2"/>
          <p:cNvSpPr/>
          <p:nvPr/>
        </p:nvSpPr>
        <p:spPr>
          <a:xfrm>
            <a:off x="411480" y="1645920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9:00 – 9:30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2"/>
          <p:cNvSpPr/>
          <p:nvPr/>
        </p:nvSpPr>
        <p:spPr>
          <a:xfrm>
            <a:off x="1714500" y="1645920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Prep + callbacks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2"/>
          <p:cNvSpPr/>
          <p:nvPr/>
        </p:nvSpPr>
        <p:spPr>
          <a:xfrm>
            <a:off x="5760720" y="1645920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Know exactly who you're attacking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2"/>
          <p:cNvSpPr/>
          <p:nvPr/>
        </p:nvSpPr>
        <p:spPr>
          <a:xfrm>
            <a:off x="411480" y="1944243"/>
            <a:ext cx="8320800" cy="2985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2"/>
          <p:cNvSpPr/>
          <p:nvPr/>
        </p:nvSpPr>
        <p:spPr>
          <a:xfrm>
            <a:off x="411480" y="1944243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9:30 – 11:30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2"/>
          <p:cNvSpPr/>
          <p:nvPr/>
        </p:nvSpPr>
        <p:spPr>
          <a:xfrm>
            <a:off x="1714500" y="1944243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Call Block #1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2"/>
          <p:cNvSpPr/>
          <p:nvPr/>
        </p:nvSpPr>
        <p:spPr>
          <a:xfrm>
            <a:off x="5760720" y="1944243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~40–45 calls / ~3 DMs / 1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2"/>
          <p:cNvSpPr/>
          <p:nvPr/>
        </p:nvSpPr>
        <p:spPr>
          <a:xfrm>
            <a:off x="411480" y="2242566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11:30 – 12:00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2"/>
          <p:cNvSpPr/>
          <p:nvPr/>
        </p:nvSpPr>
        <p:spPr>
          <a:xfrm>
            <a:off x="1714500" y="2242566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Immediate follow-up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2"/>
          <p:cNvSpPr/>
          <p:nvPr/>
        </p:nvSpPr>
        <p:spPr>
          <a:xfrm>
            <a:off x="5760720" y="2242566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Only priority follow up: promised emails, texts, calendar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411480" y="2540889"/>
            <a:ext cx="8320800" cy="2985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2"/>
          <p:cNvSpPr/>
          <p:nvPr/>
        </p:nvSpPr>
        <p:spPr>
          <a:xfrm>
            <a:off x="411480" y="2540889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12:00 – 1:00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2"/>
          <p:cNvSpPr/>
          <p:nvPr/>
        </p:nvSpPr>
        <p:spPr>
          <a:xfrm>
            <a:off x="1714500" y="2540889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Clean + build leads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2"/>
          <p:cNvSpPr/>
          <p:nvPr/>
        </p:nvSpPr>
        <p:spPr>
          <a:xfrm>
            <a:off x="5760720" y="2540889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Clean/add 20–25 fresh accounts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2"/>
          <p:cNvSpPr/>
          <p:nvPr/>
        </p:nvSpPr>
        <p:spPr>
          <a:xfrm>
            <a:off x="411480" y="2839212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1:00 – 2:00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2"/>
          <p:cNvSpPr/>
          <p:nvPr/>
        </p:nvSpPr>
        <p:spPr>
          <a:xfrm>
            <a:off x="1714500" y="2839212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Lunch / demos / admin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2"/>
          <p:cNvSpPr/>
          <p:nvPr/>
        </p:nvSpPr>
        <p:spPr>
          <a:xfrm>
            <a:off x="5760720" y="2839212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Meetings + CRM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411480" y="3137535"/>
            <a:ext cx="8320800" cy="2985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2"/>
          <p:cNvSpPr/>
          <p:nvPr/>
        </p:nvSpPr>
        <p:spPr>
          <a:xfrm>
            <a:off x="411480" y="3137535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2:00 – 2:30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1714500" y="3137535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Clean + queue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5760720" y="3137535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Finish remaining 10–15 accounts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411480" y="3435858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2:30 – 4:30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1714500" y="3435858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Call Block #2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5760720" y="3435858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~40–50 calls / ~3 DMs / 1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411480" y="3734181"/>
            <a:ext cx="8320800" cy="2985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2"/>
          <p:cNvSpPr/>
          <p:nvPr/>
        </p:nvSpPr>
        <p:spPr>
          <a:xfrm>
            <a:off x="411480" y="3734181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4:30 – 5:00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1714500" y="3734181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Callbacks / follow-up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5760720" y="3734181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Work today's warmest threads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2"/>
          <p:cNvSpPr/>
          <p:nvPr/>
        </p:nvSpPr>
        <p:spPr>
          <a:xfrm>
            <a:off x="411480" y="4032504"/>
            <a:ext cx="130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5:00 – 6:00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2"/>
          <p:cNvSpPr/>
          <p:nvPr/>
        </p:nvSpPr>
        <p:spPr>
          <a:xfrm>
            <a:off x="1714500" y="4032504"/>
            <a:ext cx="404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Tomorrow setup + wrap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2"/>
          <p:cNvSpPr/>
          <p:nvPr/>
        </p:nvSpPr>
        <p:spPr>
          <a:xfrm>
            <a:off x="5760720" y="4032504"/>
            <a:ext cx="2969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All open loops closed; tomorrow’s call list ready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42"/>
          <p:cNvCxnSpPr/>
          <p:nvPr/>
        </p:nvCxnSpPr>
        <p:spPr>
          <a:xfrm>
            <a:off x="411480" y="1357884"/>
            <a:ext cx="0" cy="2973000"/>
          </a:xfrm>
          <a:prstGeom prst="straightConnector1">
            <a:avLst/>
          </a:prstGeom>
          <a:noFill/>
          <a:ln cap="flat" cmpd="sng" w="9525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42"/>
          <p:cNvCxnSpPr/>
          <p:nvPr/>
        </p:nvCxnSpPr>
        <p:spPr>
          <a:xfrm>
            <a:off x="8732291" y="1357884"/>
            <a:ext cx="0" cy="2973000"/>
          </a:xfrm>
          <a:prstGeom prst="straightConnector1">
            <a:avLst/>
          </a:prstGeom>
          <a:noFill/>
          <a:ln cap="flat" cmpd="sng" w="9525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42"/>
          <p:cNvCxnSpPr/>
          <p:nvPr/>
        </p:nvCxnSpPr>
        <p:spPr>
          <a:xfrm>
            <a:off x="411480" y="1357884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42"/>
          <p:cNvSpPr/>
          <p:nvPr/>
        </p:nvSpPr>
        <p:spPr>
          <a:xfrm>
            <a:off x="411480" y="4629150"/>
            <a:ext cx="8320800" cy="411600"/>
          </a:xfrm>
          <a:prstGeom prst="roundRect">
            <a:avLst>
              <a:gd fmla="val 15000" name="adj"/>
            </a:avLst>
          </a:prstGeom>
          <a:solidFill>
            <a:srgbClr val="FBF3DF"/>
          </a:solidFill>
          <a:ln cap="flat" cmpd="sng" w="14300">
            <a:solidFill>
              <a:srgbClr val="F3C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2"/>
          <p:cNvSpPr/>
          <p:nvPr/>
        </p:nvSpPr>
        <p:spPr>
          <a:xfrm>
            <a:off x="651510" y="4732020"/>
            <a:ext cx="7840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Prime call time = call. </a:t>
            </a:r>
            <a:r>
              <a:rPr b="0" i="0" lang="en" sz="900" u="none" cap="none" strike="noStrike">
                <a:solidFill>
                  <a:srgbClr val="6E675E"/>
                </a:solidFill>
                <a:latin typeface="Calibri"/>
                <a:ea typeface="Calibri"/>
                <a:cs typeface="Calibri"/>
                <a:sym typeface="Calibri"/>
              </a:rPr>
              <a:t>Lunch and dead time = clean and build. End of day = tomorrow is ready.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>
            <a:off x="411480" y="356616"/>
            <a:ext cx="288000" cy="288000"/>
          </a:xfrm>
          <a:prstGeom prst="ellipse">
            <a:avLst/>
          </a:prstGeom>
          <a:solidFill>
            <a:srgbClr val="F3C86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3"/>
          <p:cNvSpPr/>
          <p:nvPr/>
        </p:nvSpPr>
        <p:spPr>
          <a:xfrm>
            <a:off x="411480" y="35661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3"/>
          <p:cNvSpPr/>
          <p:nvPr/>
        </p:nvSpPr>
        <p:spPr>
          <a:xfrm>
            <a:off x="795528" y="356616"/>
            <a:ext cx="548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512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6512"/>
                </a:solidFill>
                <a:latin typeface="Calibri"/>
                <a:ea typeface="Calibri"/>
                <a:cs typeface="Calibri"/>
                <a:sym typeface="Calibri"/>
              </a:rPr>
              <a:t>DAILY OPERATING RHYTHM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3"/>
          <p:cNvSpPr/>
          <p:nvPr/>
        </p:nvSpPr>
        <p:spPr>
          <a:xfrm>
            <a:off x="411480" y="672084"/>
            <a:ext cx="8320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221E18"/>
                </a:solidFill>
                <a:latin typeface="Cambria"/>
                <a:ea typeface="Cambria"/>
                <a:cs typeface="Cambria"/>
                <a:sym typeface="Cambria"/>
              </a:rPr>
              <a:t>2 meetings is the goal; everything else is how to get there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3"/>
          <p:cNvSpPr/>
          <p:nvPr/>
        </p:nvSpPr>
        <p:spPr>
          <a:xfrm>
            <a:off x="411480" y="1289304"/>
            <a:ext cx="8320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75E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E675E"/>
                </a:solidFill>
                <a:latin typeface="Calibri"/>
                <a:ea typeface="Calibri"/>
                <a:cs typeface="Calibri"/>
                <a:sym typeface="Calibri"/>
              </a:rPr>
              <a:t>The goal is 2 meetings; the activity tells you where the day is breaking.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3"/>
          <p:cNvSpPr/>
          <p:nvPr/>
        </p:nvSpPr>
        <p:spPr>
          <a:xfrm>
            <a:off x="411480" y="1474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512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6512"/>
                </a:solidFill>
                <a:latin typeface="Calibri"/>
                <a:ea typeface="Calibri"/>
                <a:cs typeface="Calibri"/>
                <a:sym typeface="Calibri"/>
              </a:rPr>
              <a:t>CHECKPOINTS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411480" y="1687068"/>
            <a:ext cx="8320800" cy="288000"/>
          </a:xfrm>
          <a:prstGeom prst="rect">
            <a:avLst/>
          </a:prstGeom>
          <a:solidFill>
            <a:srgbClr val="F3C86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3"/>
          <p:cNvSpPr/>
          <p:nvPr/>
        </p:nvSpPr>
        <p:spPr>
          <a:xfrm>
            <a:off x="411480" y="1687068"/>
            <a:ext cx="1577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3"/>
          <p:cNvSpPr/>
          <p:nvPr/>
        </p:nvSpPr>
        <p:spPr>
          <a:xfrm>
            <a:off x="1988820" y="1687068"/>
            <a:ext cx="674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3"/>
          <p:cNvSpPr/>
          <p:nvPr/>
        </p:nvSpPr>
        <p:spPr>
          <a:xfrm>
            <a:off x="411480" y="1975104"/>
            <a:ext cx="1577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By 11:30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3"/>
          <p:cNvSpPr/>
          <p:nvPr/>
        </p:nvSpPr>
        <p:spPr>
          <a:xfrm>
            <a:off x="1988820" y="1975104"/>
            <a:ext cx="6741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40 calls / 3 DMs / 1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3"/>
          <p:cNvSpPr/>
          <p:nvPr/>
        </p:nvSpPr>
        <p:spPr>
          <a:xfrm>
            <a:off x="411480" y="2276856"/>
            <a:ext cx="8320800" cy="3018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3"/>
          <p:cNvSpPr/>
          <p:nvPr/>
        </p:nvSpPr>
        <p:spPr>
          <a:xfrm>
            <a:off x="411480" y="2276856"/>
            <a:ext cx="1577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By 2:30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3"/>
          <p:cNvSpPr/>
          <p:nvPr/>
        </p:nvSpPr>
        <p:spPr>
          <a:xfrm>
            <a:off x="1988820" y="2276856"/>
            <a:ext cx="6741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35 fresh accounts cleaned + queued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3"/>
          <p:cNvSpPr/>
          <p:nvPr/>
        </p:nvSpPr>
        <p:spPr>
          <a:xfrm>
            <a:off x="411480" y="2578608"/>
            <a:ext cx="1577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By 4:30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3"/>
          <p:cNvSpPr/>
          <p:nvPr/>
        </p:nvSpPr>
        <p:spPr>
          <a:xfrm>
            <a:off x="1988820" y="2578608"/>
            <a:ext cx="6741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90 calls / 6 DMs / ~2 meetings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3"/>
          <p:cNvSpPr/>
          <p:nvPr/>
        </p:nvSpPr>
        <p:spPr>
          <a:xfrm>
            <a:off x="411480" y="2880360"/>
            <a:ext cx="8320800" cy="3018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"/>
          <p:cNvSpPr/>
          <p:nvPr/>
        </p:nvSpPr>
        <p:spPr>
          <a:xfrm>
            <a:off x="411480" y="2880360"/>
            <a:ext cx="1577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By 6:00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1988820" y="2880360"/>
            <a:ext cx="6741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Follow-up closed/ tomorrow fully ready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43"/>
          <p:cNvCxnSpPr/>
          <p:nvPr/>
        </p:nvCxnSpPr>
        <p:spPr>
          <a:xfrm>
            <a:off x="411480" y="1687068"/>
            <a:ext cx="0" cy="1495200"/>
          </a:xfrm>
          <a:prstGeom prst="straightConnector1">
            <a:avLst/>
          </a:prstGeom>
          <a:noFill/>
          <a:ln cap="flat" cmpd="sng" w="9525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43"/>
          <p:cNvCxnSpPr/>
          <p:nvPr/>
        </p:nvCxnSpPr>
        <p:spPr>
          <a:xfrm>
            <a:off x="8732291" y="1687068"/>
            <a:ext cx="0" cy="1495200"/>
          </a:xfrm>
          <a:prstGeom prst="straightConnector1">
            <a:avLst/>
          </a:prstGeom>
          <a:noFill/>
          <a:ln cap="flat" cmpd="sng" w="9525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43"/>
          <p:cNvCxnSpPr/>
          <p:nvPr/>
        </p:nvCxnSpPr>
        <p:spPr>
          <a:xfrm>
            <a:off x="411480" y="1687068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43"/>
          <p:cNvCxnSpPr/>
          <p:nvPr/>
        </p:nvCxnSpPr>
        <p:spPr>
          <a:xfrm>
            <a:off x="411480" y="1687068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43"/>
          <p:cNvCxnSpPr/>
          <p:nvPr/>
        </p:nvCxnSpPr>
        <p:spPr>
          <a:xfrm>
            <a:off x="411480" y="1687068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43"/>
          <p:cNvCxnSpPr/>
          <p:nvPr/>
        </p:nvCxnSpPr>
        <p:spPr>
          <a:xfrm>
            <a:off x="411480" y="1687068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43"/>
          <p:cNvCxnSpPr/>
          <p:nvPr/>
        </p:nvCxnSpPr>
        <p:spPr>
          <a:xfrm>
            <a:off x="411480" y="1687068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43"/>
          <p:cNvCxnSpPr/>
          <p:nvPr/>
        </p:nvCxnSpPr>
        <p:spPr>
          <a:xfrm>
            <a:off x="411480" y="1687068"/>
            <a:ext cx="8320800" cy="0"/>
          </a:xfrm>
          <a:prstGeom prst="straightConnector1">
            <a:avLst/>
          </a:prstGeom>
          <a:noFill/>
          <a:ln cap="flat" cmpd="sng" w="7150">
            <a:solidFill>
              <a:srgbClr val="E4DD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43"/>
          <p:cNvSpPr/>
          <p:nvPr/>
        </p:nvSpPr>
        <p:spPr>
          <a:xfrm>
            <a:off x="411480" y="312039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512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6512"/>
                </a:solidFill>
                <a:latin typeface="Calibri"/>
                <a:ea typeface="Calibri"/>
                <a:cs typeface="Calibri"/>
                <a:sym typeface="Calibri"/>
              </a:rPr>
              <a:t>WHAT THE NUMBERS TELL YOU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411480" y="3380994"/>
            <a:ext cx="301800" cy="301800"/>
          </a:xfrm>
          <a:prstGeom prst="ellipse">
            <a:avLst/>
          </a:prstGeom>
          <a:solidFill>
            <a:srgbClr val="FBF3D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953" y="3462467"/>
            <a:ext cx="138806" cy="13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/>
          <p:nvPr/>
        </p:nvSpPr>
        <p:spPr>
          <a:xfrm>
            <a:off x="836676" y="3360420"/>
            <a:ext cx="789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Not enough calls: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75E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E675E"/>
                </a:solidFill>
                <a:latin typeface="Calibri"/>
                <a:ea typeface="Calibri"/>
                <a:cs typeface="Calibri"/>
                <a:sym typeface="Calibri"/>
              </a:rPr>
              <a:t>Time management problems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411480" y="3765042"/>
            <a:ext cx="301800" cy="301800"/>
          </a:xfrm>
          <a:prstGeom prst="ellipse">
            <a:avLst/>
          </a:prstGeom>
          <a:solidFill>
            <a:srgbClr val="FBF3D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53" y="3846515"/>
            <a:ext cx="138806" cy="13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3"/>
          <p:cNvSpPr/>
          <p:nvPr/>
        </p:nvSpPr>
        <p:spPr>
          <a:xfrm>
            <a:off x="836676" y="3744468"/>
            <a:ext cx="789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90 calls, not enough DM connects: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75E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E675E"/>
                </a:solidFill>
                <a:latin typeface="Calibri"/>
                <a:ea typeface="Calibri"/>
                <a:cs typeface="Calibri"/>
                <a:sym typeface="Calibri"/>
              </a:rPr>
              <a:t>data/ list/ value proposition/ timing problems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3"/>
          <p:cNvSpPr/>
          <p:nvPr/>
        </p:nvSpPr>
        <p:spPr>
          <a:xfrm>
            <a:off x="411480" y="4149090"/>
            <a:ext cx="301800" cy="301800"/>
          </a:xfrm>
          <a:prstGeom prst="ellipse">
            <a:avLst/>
          </a:prstGeom>
          <a:solidFill>
            <a:srgbClr val="FBF3D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53" y="4230563"/>
            <a:ext cx="138806" cy="13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3"/>
          <p:cNvSpPr/>
          <p:nvPr/>
        </p:nvSpPr>
        <p:spPr>
          <a:xfrm>
            <a:off x="836676" y="4128516"/>
            <a:ext cx="789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6+ DMs, not enough meetings: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75E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E675E"/>
                </a:solidFill>
                <a:latin typeface="Calibri"/>
                <a:ea typeface="Calibri"/>
                <a:cs typeface="Calibri"/>
                <a:sym typeface="Calibri"/>
              </a:rPr>
              <a:t>skill/ product mastery/ value proposition problems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411480" y="4533138"/>
            <a:ext cx="301800" cy="301800"/>
          </a:xfrm>
          <a:prstGeom prst="ellipse">
            <a:avLst/>
          </a:prstGeom>
          <a:solidFill>
            <a:srgbClr val="FBF3D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953" y="4614611"/>
            <a:ext cx="138806" cy="13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3"/>
          <p:cNvSpPr/>
          <p:nvPr/>
        </p:nvSpPr>
        <p:spPr>
          <a:xfrm>
            <a:off x="836676" y="4512564"/>
            <a:ext cx="789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1E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21E18"/>
                </a:solidFill>
                <a:latin typeface="Calibri"/>
                <a:ea typeface="Calibri"/>
                <a:cs typeface="Calibri"/>
                <a:sym typeface="Calibri"/>
              </a:rPr>
              <a:t>2+ meetings, poor hold rate: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75E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E675E"/>
                </a:solidFill>
                <a:latin typeface="Calibri"/>
                <a:ea typeface="Calibri"/>
                <a:cs typeface="Calibri"/>
                <a:sym typeface="Calibri"/>
              </a:rPr>
              <a:t>Confirmation or follow-up problems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/>
          <p:nvPr/>
        </p:nvSpPr>
        <p:spPr>
          <a:xfrm>
            <a:off x="457200" y="201168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E42"/>
              </a:buClr>
              <a:buSzPts val="3600"/>
              <a:buFont typeface="Times New Roman"/>
              <a:buNone/>
            </a:pPr>
            <a:r>
              <a:rPr b="1" i="0" lang="en" sz="3600" u="none" cap="none" strike="noStrike">
                <a:solidFill>
                  <a:srgbClr val="2C4E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Behaviors That Drive Points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4"/>
          <p:cNvSpPr/>
          <p:nvPr/>
        </p:nvSpPr>
        <p:spPr>
          <a:xfrm>
            <a:off x="457200" y="9601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DM Sans"/>
              <a:buNone/>
            </a:pPr>
            <a:r>
              <a:rPr b="0" i="1" lang="en" sz="15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The comp model and the playbook are the same pitch — you can't separate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384048" y="1325880"/>
            <a:ext cx="4096500" cy="3291900"/>
          </a:xfrm>
          <a:prstGeom prst="rect">
            <a:avLst/>
          </a:prstGeom>
          <a:solidFill>
            <a:srgbClr val="2C4E42"/>
          </a:solidFill>
          <a:ln cap="flat" cmpd="sng" w="12700">
            <a:solidFill>
              <a:srgbClr val="2C4E4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4"/>
          <p:cNvSpPr/>
          <p:nvPr/>
        </p:nvSpPr>
        <p:spPr>
          <a:xfrm>
            <a:off x="612648" y="1527048"/>
            <a:ext cx="713100" cy="713100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664" y="165506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4"/>
          <p:cNvSpPr/>
          <p:nvPr/>
        </p:nvSpPr>
        <p:spPr>
          <a:xfrm>
            <a:off x="1481328" y="1527048"/>
            <a:ext cx="28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700"/>
              <a:buFont typeface="Times New Roman"/>
              <a:buNone/>
            </a:pPr>
            <a:r>
              <a:rPr b="1" i="0" lang="en" sz="17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 Over Email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4"/>
          <p:cNvSpPr/>
          <p:nvPr/>
        </p:nvSpPr>
        <p:spPr>
          <a:xfrm>
            <a:off x="612648" y="2350008"/>
            <a:ext cx="373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150"/>
              <a:buFont typeface="DM Sans"/>
              <a:buNone/>
            </a:pPr>
            <a:r>
              <a:rPr b="0" i="1" lang="en" sz="115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Email is comfortable. Phones create holds.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4"/>
          <p:cNvSpPr/>
          <p:nvPr/>
        </p:nvSpPr>
        <p:spPr>
          <a:xfrm>
            <a:off x="612648" y="2715768"/>
            <a:ext cx="3639300" cy="228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4"/>
          <p:cNvSpPr/>
          <p:nvPr/>
        </p:nvSpPr>
        <p:spPr>
          <a:xfrm>
            <a:off x="612648" y="2807208"/>
            <a:ext cx="37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ED8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C8DED8"/>
                </a:solidFill>
                <a:latin typeface="DM Sans"/>
                <a:ea typeface="DM Sans"/>
                <a:cs typeface="DM Sans"/>
                <a:sym typeface="DM Sans"/>
              </a:rPr>
              <a:t>→  Live conversations qualify instantly — you find out if there's real interest and can lock in a time the DM will actually show.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/>
          <p:cNvSpPr/>
          <p:nvPr/>
        </p:nvSpPr>
        <p:spPr>
          <a:xfrm>
            <a:off x="612648" y="3355848"/>
            <a:ext cx="37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ED8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C8DED8"/>
                </a:solidFill>
                <a:latin typeface="DM Sans"/>
                <a:ea typeface="DM Sans"/>
                <a:cs typeface="DM Sans"/>
                <a:sym typeface="DM Sans"/>
              </a:rPr>
              <a:t>→  Phone-set demos hold at a dramatically higher rate than email-set demos.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4"/>
          <p:cNvSpPr/>
          <p:nvPr/>
        </p:nvSpPr>
        <p:spPr>
          <a:xfrm>
            <a:off x="612648" y="3904488"/>
            <a:ext cx="37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ED8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C8DED8"/>
                </a:solidFill>
                <a:latin typeface="DM Sans"/>
                <a:ea typeface="DM Sans"/>
                <a:cs typeface="DM Sans"/>
                <a:sym typeface="DM Sans"/>
              </a:rPr>
              <a:t>→  More calls = more sets = more holds = more closes. Every point starts 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4"/>
          <p:cNvSpPr/>
          <p:nvPr/>
        </p:nvSpPr>
        <p:spPr>
          <a:xfrm>
            <a:off x="4700016" y="1325880"/>
            <a:ext cx="4096500" cy="3291900"/>
          </a:xfrm>
          <a:prstGeom prst="rect">
            <a:avLst/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4"/>
          <p:cNvSpPr/>
          <p:nvPr/>
        </p:nvSpPr>
        <p:spPr>
          <a:xfrm>
            <a:off x="4928616" y="1527048"/>
            <a:ext cx="713100" cy="713100"/>
          </a:xfrm>
          <a:prstGeom prst="ellipse">
            <a:avLst/>
          </a:prstGeom>
          <a:solidFill>
            <a:srgbClr val="2C4E42">
              <a:alpha val="80000"/>
            </a:srgbClr>
          </a:solidFill>
          <a:ln cap="flat" cmpd="sng" w="12700">
            <a:solidFill>
              <a:srgbClr val="2C4E4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6632" y="165506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4"/>
          <p:cNvSpPr/>
          <p:nvPr/>
        </p:nvSpPr>
        <p:spPr>
          <a:xfrm>
            <a:off x="5797296" y="1527048"/>
            <a:ext cx="28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700"/>
              <a:buFont typeface="Times New Roman"/>
              <a:buNone/>
            </a:pPr>
            <a:r>
              <a:rPr b="1" i="0" lang="en" sz="17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Callback / Calendar Method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4"/>
          <p:cNvSpPr/>
          <p:nvPr/>
        </p:nvSpPr>
        <p:spPr>
          <a:xfrm>
            <a:off x="4928616" y="2350008"/>
            <a:ext cx="373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CCC"/>
              </a:buClr>
              <a:buSzPts val="1150"/>
              <a:buFont typeface="DM Sans"/>
              <a:buNone/>
            </a:pPr>
            <a:r>
              <a:rPr b="0" i="1" lang="en" sz="1150" u="none" cap="none" strike="noStrike">
                <a:solidFill>
                  <a:srgbClr val="FFECCC"/>
                </a:solidFill>
                <a:latin typeface="DM Sans"/>
                <a:ea typeface="DM Sans"/>
                <a:cs typeface="DM Sans"/>
                <a:sym typeface="DM Sans"/>
              </a:rPr>
              <a:t>Can't reach the DM? Don't hang up — schedule a callback.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4"/>
          <p:cNvSpPr/>
          <p:nvPr/>
        </p:nvSpPr>
        <p:spPr>
          <a:xfrm>
            <a:off x="4928616" y="2715768"/>
            <a:ext cx="3639300" cy="228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"/>
          <p:cNvSpPr/>
          <p:nvPr/>
        </p:nvSpPr>
        <p:spPr>
          <a:xfrm>
            <a:off x="4928616" y="2807208"/>
            <a:ext cx="37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→  Push for a specific reconnect time before you end the call. Get it on both calendars.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4"/>
          <p:cNvSpPr/>
          <p:nvPr/>
        </p:nvSpPr>
        <p:spPr>
          <a:xfrm>
            <a:off x="4928616" y="3355848"/>
            <a:ext cx="37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→  A scheduled callback holds at a far higher rate than a cold follow-up email.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4"/>
          <p:cNvSpPr/>
          <p:nvPr/>
        </p:nvSpPr>
        <p:spPr>
          <a:xfrm>
            <a:off x="4928616" y="3904488"/>
            <a:ext cx="37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→  This is how you convert outbound dials into meetings that actually stick.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384048" y="4681728"/>
            <a:ext cx="8376000" cy="301800"/>
          </a:xfrm>
          <a:prstGeom prst="rect">
            <a:avLst/>
          </a:prstGeom>
          <a:solidFill>
            <a:srgbClr val="2C4E42"/>
          </a:solidFill>
          <a:ln cap="flat" cmpd="sng" w="12700">
            <a:solidFill>
              <a:srgbClr val="2C4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4"/>
          <p:cNvSpPr/>
          <p:nvPr/>
        </p:nvSpPr>
        <p:spPr>
          <a:xfrm>
            <a:off x="384048" y="4681728"/>
            <a:ext cx="8376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Full details + earning scenarios </a:t>
            </a:r>
            <a:r>
              <a:rPr b="1" lang="en" sz="1200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Tuesday</a:t>
            </a:r>
            <a:r>
              <a:rPr b="1" i="0" lang="en" sz="12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. Questions? Come find 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E4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/>
          <p:nvPr/>
        </p:nvSpPr>
        <p:spPr>
          <a:xfrm>
            <a:off x="0" y="0"/>
            <a:ext cx="9141900" cy="54900"/>
          </a:xfrm>
          <a:prstGeom prst="rect">
            <a:avLst/>
          </a:prstGeom>
          <a:solidFill>
            <a:srgbClr val="FFAB40"/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342900" y="13716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800"/>
              <a:buFont typeface="DM Sans"/>
              <a:buNone/>
            </a:pPr>
            <a:r>
              <a:rPr b="1" i="0" lang="en" sz="8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YOUR FUEL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342900" y="411475"/>
            <a:ext cx="857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2600"/>
              <a:buFont typeface="Times New Roman"/>
              <a:buNone/>
            </a:pPr>
            <a:r>
              <a:rPr b="1" i="0" lang="en" sz="26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Calendar Callback Method: </a:t>
            </a:r>
            <a:r>
              <a:rPr b="1" lang="en" sz="2600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to Your Plan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342900" y="836676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1100"/>
              <a:buFont typeface="DM Sans"/>
              <a:buNone/>
            </a:pPr>
            <a:r>
              <a:rPr b="0" i="1" lang="en" sz="11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Every 30 min: a DM convo, a booking, or a callback confirmed.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274320" y="1220724"/>
            <a:ext cx="4183500" cy="1659600"/>
          </a:xfrm>
          <a:prstGeom prst="rect">
            <a:avLst/>
          </a:prstGeom>
          <a:solidFill>
            <a:srgbClr val="3B6355"/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5"/>
          <p:cNvSpPr/>
          <p:nvPr/>
        </p:nvSpPr>
        <p:spPr>
          <a:xfrm>
            <a:off x="274320" y="1220724"/>
            <a:ext cx="54900" cy="1659600"/>
          </a:xfrm>
          <a:prstGeom prst="rect">
            <a:avLst/>
          </a:prstGeom>
          <a:solidFill>
            <a:srgbClr val="FFAB40"/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5"/>
          <p:cNvSpPr/>
          <p:nvPr/>
        </p:nvSpPr>
        <p:spPr>
          <a:xfrm>
            <a:off x="425196" y="1289304"/>
            <a:ext cx="960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700"/>
              <a:buFont typeface="DM Sans"/>
              <a:buNone/>
            </a:pPr>
            <a:r>
              <a:rPr b="1" i="0" lang="en" sz="7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TIER 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5"/>
          <p:cNvSpPr/>
          <p:nvPr/>
        </p:nvSpPr>
        <p:spPr>
          <a:xfrm>
            <a:off x="425196" y="1460754"/>
            <a:ext cx="171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700"/>
              <a:buFont typeface="Times New Roman"/>
              <a:buNone/>
            </a:pPr>
            <a:r>
              <a:rPr b="1" i="0" lang="en" sz="17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0" y="1289304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5"/>
          <p:cNvSpPr/>
          <p:nvPr/>
        </p:nvSpPr>
        <p:spPr>
          <a:xfrm>
            <a:off x="425196" y="1810512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·  Owner/GM by name — DM their schedule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425196" y="2064258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Best time to call + callback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425196" y="2318004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Vacation / return date captured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5"/>
          <p:cNvSpPr/>
          <p:nvPr/>
        </p:nvSpPr>
        <p:spPr>
          <a:xfrm>
            <a:off x="425196" y="2571750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Always log in Salesloft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5"/>
          <p:cNvSpPr/>
          <p:nvPr/>
        </p:nvSpPr>
        <p:spPr>
          <a:xfrm>
            <a:off x="4732020" y="1220724"/>
            <a:ext cx="4183500" cy="1659600"/>
          </a:xfrm>
          <a:prstGeom prst="rect">
            <a:avLst/>
          </a:prstGeom>
          <a:solidFill>
            <a:srgbClr val="3B6355"/>
          </a:solidFill>
          <a:ln cap="flat" cmpd="sng" w="95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4732020" y="1220724"/>
            <a:ext cx="54900" cy="1659600"/>
          </a:xfrm>
          <a:prstGeom prst="rect">
            <a:avLst/>
          </a:prstGeom>
          <a:solidFill>
            <a:srgbClr val="0097A7"/>
          </a:solidFill>
          <a:ln cap="flat" cmpd="sng" w="95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5"/>
          <p:cNvSpPr/>
          <p:nvPr/>
        </p:nvSpPr>
        <p:spPr>
          <a:xfrm>
            <a:off x="4882896" y="1289304"/>
            <a:ext cx="960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700"/>
              <a:buFont typeface="DM Sans"/>
              <a:buNone/>
            </a:pPr>
            <a:r>
              <a:rPr b="1" i="0" lang="en" sz="7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TIER 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5"/>
          <p:cNvSpPr/>
          <p:nvPr/>
        </p:nvSpPr>
        <p:spPr>
          <a:xfrm>
            <a:off x="4882896" y="1460754"/>
            <a:ext cx="171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700"/>
              <a:buFont typeface="Times New Roman"/>
              <a:buNone/>
            </a:pPr>
            <a:r>
              <a:rPr b="1" i="0" lang="en" sz="17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8" name="Google Shape;36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8180" y="1289304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5"/>
          <p:cNvSpPr/>
          <p:nvPr/>
        </p:nvSpPr>
        <p:spPr>
          <a:xfrm>
            <a:off x="4882896" y="1810512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·  Org structure — who handles marketing/ops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5"/>
          <p:cNvSpPr/>
          <p:nvPr/>
        </p:nvSpPr>
        <p:spPr>
          <a:xfrm>
            <a:off x="4882896" y="2064258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Who owns partnerships &amp; promos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4882896" y="2318004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New location opening soon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4882896" y="2571750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Renovation or re-brand underway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274320" y="3017520"/>
            <a:ext cx="4183500" cy="1659600"/>
          </a:xfrm>
          <a:prstGeom prst="rect">
            <a:avLst/>
          </a:prstGeom>
          <a:solidFill>
            <a:srgbClr val="3B6355"/>
          </a:solidFill>
          <a:ln cap="flat" cmpd="sng" w="9525">
            <a:solidFill>
              <a:srgbClr val="4A7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5"/>
          <p:cNvSpPr/>
          <p:nvPr/>
        </p:nvSpPr>
        <p:spPr>
          <a:xfrm>
            <a:off x="274320" y="3017520"/>
            <a:ext cx="54900" cy="1659600"/>
          </a:xfrm>
          <a:prstGeom prst="rect">
            <a:avLst/>
          </a:prstGeom>
          <a:solidFill>
            <a:srgbClr val="4A7A6A"/>
          </a:solidFill>
          <a:ln cap="flat" cmpd="sng" w="9525">
            <a:solidFill>
              <a:srgbClr val="4A7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5"/>
          <p:cNvSpPr/>
          <p:nvPr/>
        </p:nvSpPr>
        <p:spPr>
          <a:xfrm>
            <a:off x="425196" y="3086100"/>
            <a:ext cx="960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6A"/>
              </a:buClr>
              <a:buSzPts val="700"/>
              <a:buFont typeface="DM Sans"/>
              <a:buNone/>
            </a:pPr>
            <a:r>
              <a:rPr b="1" i="0" lang="en" sz="700" u="none" cap="none" strike="noStrike">
                <a:solidFill>
                  <a:srgbClr val="4A7A6A"/>
                </a:solidFill>
                <a:latin typeface="DM Sans"/>
                <a:ea typeface="DM Sans"/>
                <a:cs typeface="DM Sans"/>
                <a:sym typeface="DM Sans"/>
              </a:rPr>
              <a:t>TIER 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425196" y="3257550"/>
            <a:ext cx="171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700"/>
              <a:buFont typeface="Times New Roman"/>
              <a:buNone/>
            </a:pPr>
            <a:r>
              <a:rPr b="1" i="0" lang="en" sz="17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7" name="Google Shape;37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0480" y="308610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5"/>
          <p:cNvSpPr/>
          <p:nvPr/>
        </p:nvSpPr>
        <p:spPr>
          <a:xfrm>
            <a:off x="425196" y="3607308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·  New menu or patio opening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425196" y="3861054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Holiday or seasonal event hook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425196" y="4114800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World Cup city, summer travel, local events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5"/>
          <p:cNvSpPr/>
          <p:nvPr/>
        </p:nvSpPr>
        <p:spPr>
          <a:xfrm>
            <a:off x="425196" y="4368546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Calendar event = urgency to act now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5"/>
          <p:cNvSpPr/>
          <p:nvPr/>
        </p:nvSpPr>
        <p:spPr>
          <a:xfrm>
            <a:off x="4732020" y="3017520"/>
            <a:ext cx="4183500" cy="1659600"/>
          </a:xfrm>
          <a:prstGeom prst="rect">
            <a:avLst/>
          </a:prstGeom>
          <a:solidFill>
            <a:srgbClr val="3B6355"/>
          </a:solidFill>
          <a:ln cap="flat" cmpd="sng" w="9525">
            <a:solidFill>
              <a:srgbClr val="6B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/>
          <p:cNvSpPr/>
          <p:nvPr/>
        </p:nvSpPr>
        <p:spPr>
          <a:xfrm>
            <a:off x="4732020" y="3017520"/>
            <a:ext cx="54900" cy="1659600"/>
          </a:xfrm>
          <a:prstGeom prst="rect">
            <a:avLst/>
          </a:prstGeom>
          <a:solidFill>
            <a:srgbClr val="6B4040"/>
          </a:solidFill>
          <a:ln cap="flat" cmpd="sng" w="9525">
            <a:solidFill>
              <a:srgbClr val="6B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5"/>
          <p:cNvSpPr/>
          <p:nvPr/>
        </p:nvSpPr>
        <p:spPr>
          <a:xfrm>
            <a:off x="4882896" y="3086100"/>
            <a:ext cx="960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040"/>
              </a:buClr>
              <a:buSzPts val="700"/>
              <a:buFont typeface="DM Sans"/>
              <a:buNone/>
            </a:pPr>
            <a:r>
              <a:rPr b="1" i="0" lang="en" sz="700" u="none" cap="none" strike="noStrike">
                <a:solidFill>
                  <a:srgbClr val="6B4040"/>
                </a:solidFill>
                <a:latin typeface="DM Sans"/>
                <a:ea typeface="DM Sans"/>
                <a:cs typeface="DM Sans"/>
                <a:sym typeface="DM Sans"/>
              </a:rPr>
              <a:t>TIER 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5"/>
          <p:cNvSpPr/>
          <p:nvPr/>
        </p:nvSpPr>
        <p:spPr>
          <a:xfrm>
            <a:off x="4882896" y="3257550"/>
            <a:ext cx="171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700"/>
              <a:buFont typeface="Times New Roman"/>
              <a:buNone/>
            </a:pPr>
            <a:r>
              <a:rPr b="1" i="0" lang="en" sz="17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98180" y="3086100"/>
            <a:ext cx="44577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5"/>
          <p:cNvSpPr/>
          <p:nvPr/>
        </p:nvSpPr>
        <p:spPr>
          <a:xfrm>
            <a:off x="4882896" y="3607308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·  "Call me next month" → push back hard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5"/>
          <p:cNvSpPr/>
          <p:nvPr/>
        </p:nvSpPr>
        <p:spPr>
          <a:xfrm>
            <a:off x="4882896" y="3861054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"Send me something" → why not now?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5"/>
          <p:cNvSpPr/>
          <p:nvPr/>
        </p:nvSpPr>
        <p:spPr>
          <a:xfrm>
            <a:off x="4882896" y="4114800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"We're slammed" → book for after the rush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5"/>
          <p:cNvSpPr/>
          <p:nvPr/>
        </p:nvSpPr>
        <p:spPr>
          <a:xfrm>
            <a:off x="4882896" y="4368546"/>
            <a:ext cx="387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8A0"/>
              </a:buClr>
              <a:buSzPts val="800"/>
              <a:buFont typeface="DM Sans"/>
              <a:buNone/>
            </a:pPr>
            <a:r>
              <a:rPr b="0" i="0" lang="en" sz="800" u="none" cap="none" strike="noStrike">
                <a:solidFill>
                  <a:srgbClr val="94A8A0"/>
                </a:solidFill>
                <a:latin typeface="DM Sans"/>
                <a:ea typeface="DM Sans"/>
                <a:cs typeface="DM Sans"/>
                <a:sym typeface="DM Sans"/>
              </a:rPr>
              <a:t>·  Note it — but don't accept it as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5"/>
          <p:cNvSpPr/>
          <p:nvPr/>
        </p:nvSpPr>
        <p:spPr>
          <a:xfrm>
            <a:off x="0" y="4697730"/>
            <a:ext cx="9141900" cy="445800"/>
          </a:xfrm>
          <a:prstGeom prst="rect">
            <a:avLst/>
          </a:prstGeom>
          <a:solidFill>
            <a:srgbClr val="FFAB40"/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5"/>
          <p:cNvSpPr/>
          <p:nvPr/>
        </p:nvSpPr>
        <p:spPr>
          <a:xfrm>
            <a:off x="342900" y="4718304"/>
            <a:ext cx="8456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42"/>
              </a:buClr>
              <a:buSzPts val="900"/>
              <a:buFont typeface="DM Sans"/>
              <a:buNone/>
            </a:pPr>
            <a:r>
              <a:rPr b="1" i="0" lang="en" sz="900" u="none" cap="none" strike="noStrike">
                <a:solidFill>
                  <a:srgbClr val="2C4E42"/>
                </a:solidFill>
                <a:latin typeface="DM Sans"/>
                <a:ea typeface="DM Sans"/>
                <a:cs typeface="DM Sans"/>
                <a:sym typeface="DM Sans"/>
              </a:rPr>
              <a:t>THE 30-MIN CHALLENGE:  Every block ends with a DM conversation, a booked meeting, or a confirmed callback — minimum 10 callbacks/day, goal 2/hour.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 txBox="1"/>
          <p:nvPr/>
        </p:nvSpPr>
        <p:spPr>
          <a:xfrm>
            <a:off x="1848575" y="2122950"/>
            <a:ext cx="56868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September Quota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DF8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Your Month </a:t>
            </a:r>
            <a:r>
              <a:rPr b="1" lang="en" sz="36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" sz="3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 Comp Plan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7"/>
          <p:cNvSpPr/>
          <p:nvPr/>
        </p:nvSpPr>
        <p:spPr>
          <a:xfrm>
            <a:off x="457200" y="9144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mbria"/>
              <a:buNone/>
            </a:pPr>
            <a:r>
              <a:rPr b="0" i="1" lang="en" sz="1400" u="none" cap="none" strike="noStrike">
                <a:solidFill>
                  <a:srgbClr val="444444"/>
                </a:solidFill>
                <a:latin typeface="Cambria"/>
                <a:ea typeface="Cambria"/>
                <a:cs typeface="Cambria"/>
                <a:sym typeface="Cambria"/>
              </a:rPr>
              <a:t>How you earn, what drives points, and how to win every 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7"/>
          <p:cNvSpPr/>
          <p:nvPr/>
        </p:nvSpPr>
        <p:spPr>
          <a:xfrm>
            <a:off x="457200" y="1508760"/>
            <a:ext cx="2651700" cy="21945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i="1" lang="en" sz="13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uncapped</a:t>
            </a:r>
            <a:endParaRPr/>
          </a:p>
        </p:txBody>
      </p:sp>
      <p:sp>
        <p:nvSpPr>
          <p:cNvPr id="406" name="Google Shape;406;p47"/>
          <p:cNvSpPr/>
          <p:nvPr/>
        </p:nvSpPr>
        <p:spPr>
          <a:xfrm>
            <a:off x="457200" y="160020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EFFORT / OKR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7"/>
          <p:cNvSpPr/>
          <p:nvPr/>
        </p:nvSpPr>
        <p:spPr>
          <a:xfrm>
            <a:off x="457200" y="1965960"/>
            <a:ext cx="2651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85F"/>
              </a:buClr>
              <a:buSzPts val="4400"/>
              <a:buFont typeface="Cambria"/>
              <a:buNone/>
            </a:pPr>
            <a:r>
              <a:rPr b="1" i="0" lang="en" sz="4400" u="none" cap="none" strike="no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$1,000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7"/>
          <p:cNvSpPr/>
          <p:nvPr/>
        </p:nvSpPr>
        <p:spPr>
          <a:xfrm>
            <a:off x="3291840" y="1508760"/>
            <a:ext cx="2651700" cy="2194500"/>
          </a:xfrm>
          <a:prstGeom prst="rect">
            <a:avLst/>
          </a:prstGeom>
          <a:solidFill>
            <a:srgbClr val="FFD85F"/>
          </a:solidFill>
          <a:ln cap="flat" cmpd="sng" w="12700">
            <a:solidFill>
              <a:srgbClr val="FFD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7"/>
          <p:cNvSpPr/>
          <p:nvPr/>
        </p:nvSpPr>
        <p:spPr>
          <a:xfrm>
            <a:off x="3291840" y="160020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ACHIEVEMENT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7"/>
          <p:cNvSpPr/>
          <p:nvPr/>
        </p:nvSpPr>
        <p:spPr>
          <a:xfrm>
            <a:off x="3291840" y="1965960"/>
            <a:ext cx="2651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400"/>
              <a:buFont typeface="Cambria"/>
              <a:buNone/>
            </a:pPr>
            <a:r>
              <a:rPr b="1" i="0" lang="en" sz="44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$2,000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3291840" y="28803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0" i="1" lang="en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uncapped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7"/>
          <p:cNvSpPr/>
          <p:nvPr/>
        </p:nvSpPr>
        <p:spPr>
          <a:xfrm>
            <a:off x="6126480" y="1508760"/>
            <a:ext cx="2651700" cy="21945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7"/>
          <p:cNvSpPr/>
          <p:nvPr/>
        </p:nvSpPr>
        <p:spPr>
          <a:xfrm>
            <a:off x="6126480" y="160020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TOTAL 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7"/>
          <p:cNvSpPr/>
          <p:nvPr/>
        </p:nvSpPr>
        <p:spPr>
          <a:xfrm>
            <a:off x="6126480" y="1965960"/>
            <a:ext cx="2651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$3,000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7"/>
          <p:cNvSpPr/>
          <p:nvPr/>
        </p:nvSpPr>
        <p:spPr>
          <a:xfrm>
            <a:off x="6126480" y="2880360"/>
            <a:ext cx="265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mbria"/>
              <a:buNone/>
            </a:pPr>
            <a:r>
              <a:rPr b="0" i="1" lang="en" sz="13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per month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3035808" y="2194560"/>
            <a:ext cx="32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7"/>
          <p:cNvSpPr/>
          <p:nvPr/>
        </p:nvSpPr>
        <p:spPr>
          <a:xfrm>
            <a:off x="5870448" y="2194560"/>
            <a:ext cx="32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7"/>
          <p:cNvSpPr txBox="1"/>
          <p:nvPr/>
        </p:nvSpPr>
        <p:spPr>
          <a:xfrm>
            <a:off x="244825" y="29260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capped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DF8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ambria"/>
              <a:buNone/>
            </a:pPr>
            <a:r>
              <a:rPr b="1" i="0" lang="en" sz="32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How Your Variable Pay Is Structured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8"/>
          <p:cNvSpPr/>
          <p:nvPr/>
        </p:nvSpPr>
        <p:spPr>
          <a:xfrm>
            <a:off x="457200" y="914400"/>
            <a:ext cx="4023300" cy="36576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8"/>
          <p:cNvSpPr/>
          <p:nvPr/>
        </p:nvSpPr>
        <p:spPr>
          <a:xfrm>
            <a:off x="640080" y="10058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85F"/>
              </a:buClr>
              <a:buSzPts val="1000"/>
              <a:buFont typeface="Cambria"/>
              <a:buNone/>
            </a:pPr>
            <a:r>
              <a:rPr b="1" i="0" lang="en" sz="1000" u="none" cap="none" strike="no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EFFORT BUCKET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8"/>
          <p:cNvSpPr/>
          <p:nvPr/>
        </p:nvSpPr>
        <p:spPr>
          <a:xfrm>
            <a:off x="640080" y="1280160"/>
            <a:ext cx="3657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$1,000 / month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8"/>
          <p:cNvSpPr/>
          <p:nvPr/>
        </p:nvSpPr>
        <p:spPr>
          <a:xfrm>
            <a:off x="640080" y="187452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85F"/>
              </a:buClr>
              <a:buSzPts val="1100"/>
              <a:buFont typeface="Cambria"/>
              <a:buNone/>
            </a:pPr>
            <a:r>
              <a:rPr b="0" i="1" lang="en" sz="1100" u="none" cap="none" strike="no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Earned through consistent effort &amp; hitting daily KPI expectations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640080" y="22860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→  </a:t>
            </a:r>
            <a:r>
              <a:rPr lang="en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90</a:t>
            </a:r>
            <a:r>
              <a:rPr b="0" i="0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 calls per 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8"/>
          <p:cNvSpPr/>
          <p:nvPr/>
        </p:nvSpPr>
        <p:spPr>
          <a:xfrm>
            <a:off x="640080" y="2633472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→  </a:t>
            </a:r>
            <a:r>
              <a:rPr lang="en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90</a:t>
            </a:r>
            <a:r>
              <a:rPr b="0" i="0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 min talk time per 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8"/>
          <p:cNvSpPr/>
          <p:nvPr/>
        </p:nvSpPr>
        <p:spPr>
          <a:xfrm>
            <a:off x="640080" y="2980944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→  </a:t>
            </a:r>
            <a:r>
              <a:rPr lang="en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0" i="0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 callbacks scheduled per 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640080" y="3328416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→  Ace your coaching 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594360" y="4069080"/>
            <a:ext cx="3749100" cy="384000"/>
          </a:xfrm>
          <a:prstGeom prst="rect">
            <a:avLst/>
          </a:prstGeom>
          <a:solidFill>
            <a:srgbClr val="FFD85F"/>
          </a:solidFill>
          <a:ln cap="flat" cmpd="sng" w="12700">
            <a:solidFill>
              <a:srgbClr val="FFD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8"/>
          <p:cNvSpPr/>
          <p:nvPr/>
        </p:nvSpPr>
        <p:spPr>
          <a:xfrm>
            <a:off x="594360" y="406908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mbria"/>
              <a:buNone/>
            </a:pPr>
            <a:r>
              <a:rPr b="1" i="0" lang="en" sz="1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Daily KPI targets: </a:t>
            </a:r>
            <a:r>
              <a:rPr b="1" lang="en" sz="10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r>
              <a:rPr b="1" i="0" lang="en" sz="1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0 calls  |  </a:t>
            </a:r>
            <a:r>
              <a:rPr b="1" lang="en" sz="10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90</a:t>
            </a:r>
            <a:r>
              <a:rPr b="1" i="0" lang="en" sz="1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 min talk  |  </a:t>
            </a:r>
            <a:r>
              <a:rPr b="1" lang="en" sz="10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1" i="0" lang="en" sz="1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 callbacks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8"/>
          <p:cNvSpPr/>
          <p:nvPr/>
        </p:nvSpPr>
        <p:spPr>
          <a:xfrm>
            <a:off x="4663440" y="914400"/>
            <a:ext cx="4023300" cy="3657600"/>
          </a:xfrm>
          <a:prstGeom prst="rect">
            <a:avLst/>
          </a:prstGeom>
          <a:solidFill>
            <a:srgbClr val="FFD85F"/>
          </a:solidFill>
          <a:ln cap="flat" cmpd="sng" w="12700">
            <a:solidFill>
              <a:srgbClr val="FFD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8"/>
          <p:cNvSpPr/>
          <p:nvPr/>
        </p:nvSpPr>
        <p:spPr>
          <a:xfrm>
            <a:off x="4846320" y="10058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mbria"/>
              <a:buNone/>
            </a:pPr>
            <a:r>
              <a:rPr b="1" i="0" lang="en" sz="1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ACHIEVEMENT BUCKET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8"/>
          <p:cNvSpPr/>
          <p:nvPr/>
        </p:nvSpPr>
        <p:spPr>
          <a:xfrm>
            <a:off x="4846320" y="1280160"/>
            <a:ext cx="3657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mbria"/>
              <a:buNone/>
            </a:pPr>
            <a:r>
              <a:rPr b="1" i="0" lang="en" sz="3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$2,000 / month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8"/>
          <p:cNvSpPr/>
          <p:nvPr/>
        </p:nvSpPr>
        <p:spPr>
          <a:xfrm>
            <a:off x="4846320" y="18745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mbria"/>
              <a:buNone/>
            </a:pPr>
            <a:r>
              <a:rPr b="0" i="1" lang="en" sz="11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Uncapped  →  no ceiling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8"/>
          <p:cNvSpPr/>
          <p:nvPr/>
        </p:nvSpPr>
        <p:spPr>
          <a:xfrm>
            <a:off x="4846320" y="22860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mbria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→  1 pt per meeting scheduled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8"/>
          <p:cNvSpPr/>
          <p:nvPr/>
        </p:nvSpPr>
        <p:spPr>
          <a:xfrm>
            <a:off x="4846320" y="2633472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mbria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→  2 pts per meeting held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8"/>
          <p:cNvSpPr/>
          <p:nvPr/>
        </p:nvSpPr>
        <p:spPr>
          <a:xfrm>
            <a:off x="4846320" y="2980944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mbria"/>
              <a:buNone/>
            </a:pPr>
            <a:r>
              <a:rPr b="0" i="0" lang="en" sz="12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→  3 pts per closed win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8"/>
          <p:cNvSpPr/>
          <p:nvPr/>
        </p:nvSpPr>
        <p:spPr>
          <a:xfrm>
            <a:off x="4800600" y="4069080"/>
            <a:ext cx="3749100" cy="3840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8"/>
          <p:cNvSpPr/>
          <p:nvPr/>
        </p:nvSpPr>
        <p:spPr>
          <a:xfrm>
            <a:off x="4800600" y="406908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85F"/>
              </a:buClr>
              <a:buSzPts val="1000"/>
              <a:buFont typeface="Cambria"/>
              <a:buNone/>
            </a:pPr>
            <a:r>
              <a:rPr b="1" i="0" lang="en" sz="1000" u="none" cap="none" strike="no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Monthly target: 66 pts = $2,000   |   30 sets + 12 holds + 4 closes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4206240" y="2377440"/>
            <a:ext cx="4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mbria"/>
              <a:buNone/>
            </a:pPr>
            <a:r>
              <a:rPr b="1" i="0" lang="en" sz="3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9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ambria"/>
              <a:buNone/>
            </a:pPr>
            <a:r>
              <a:rPr b="1" i="0" lang="en" sz="32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Every Deal Stage Earns Points — No Ceiling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457200" y="914400"/>
            <a:ext cx="2651700" cy="2743200"/>
          </a:xfrm>
          <a:prstGeom prst="rect">
            <a:avLst/>
          </a:prstGeom>
          <a:solidFill>
            <a:srgbClr val="F4F4F4"/>
          </a:solidFill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9"/>
          <p:cNvSpPr/>
          <p:nvPr/>
        </p:nvSpPr>
        <p:spPr>
          <a:xfrm>
            <a:off x="457200" y="100584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SCHEDULE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9"/>
          <p:cNvSpPr/>
          <p:nvPr/>
        </p:nvSpPr>
        <p:spPr>
          <a:xfrm>
            <a:off x="457200" y="132588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1 pt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548640" y="20116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Meeting confirmed on calendar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548640" y="2468880"/>
            <a:ext cx="2469000" cy="640200"/>
          </a:xfrm>
          <a:prstGeom prst="rect">
            <a:avLst/>
          </a:prstGeom>
          <a:solidFill>
            <a:srgbClr val="FFD85F"/>
          </a:solidFill>
          <a:ln cap="flat" cmpd="sng" w="12700">
            <a:solidFill>
              <a:srgbClr val="FFD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9"/>
          <p:cNvSpPr/>
          <p:nvPr/>
        </p:nvSpPr>
        <p:spPr>
          <a:xfrm>
            <a:off x="548640" y="2487168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mbria"/>
              <a:buNone/>
            </a:pPr>
            <a:r>
              <a:rPr b="0" i="0" lang="en" sz="900" u="none" cap="none" strike="noStrike">
                <a:solidFill>
                  <a:srgbClr val="444444"/>
                </a:solidFill>
                <a:latin typeface="Cambria"/>
                <a:ea typeface="Cambria"/>
                <a:cs typeface="Cambria"/>
                <a:sym typeface="Cambria"/>
              </a:rPr>
              <a:t>Monthly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548640" y="2706624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lang="en" sz="13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r>
              <a:rPr b="1" i="0" lang="en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 /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548640" y="318211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sets → 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3291840" y="914400"/>
            <a:ext cx="2651700" cy="2743200"/>
          </a:xfrm>
          <a:prstGeom prst="rect">
            <a:avLst/>
          </a:prstGeom>
          <a:solidFill>
            <a:srgbClr val="F4F4F4"/>
          </a:solidFill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9"/>
          <p:cNvSpPr/>
          <p:nvPr/>
        </p:nvSpPr>
        <p:spPr>
          <a:xfrm>
            <a:off x="3291840" y="100584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HOLD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9"/>
          <p:cNvSpPr/>
          <p:nvPr/>
        </p:nvSpPr>
        <p:spPr>
          <a:xfrm>
            <a:off x="3291840" y="132588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2 pts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3383280" y="20116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Prospect shows, meeting runs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3383280" y="2468880"/>
            <a:ext cx="2469000" cy="640200"/>
          </a:xfrm>
          <a:prstGeom prst="rect">
            <a:avLst/>
          </a:prstGeom>
          <a:solidFill>
            <a:srgbClr val="FFD85F"/>
          </a:solidFill>
          <a:ln cap="flat" cmpd="sng" w="12700">
            <a:solidFill>
              <a:srgbClr val="FFD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9"/>
          <p:cNvSpPr/>
          <p:nvPr/>
        </p:nvSpPr>
        <p:spPr>
          <a:xfrm>
            <a:off x="3383280" y="2487168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mbria"/>
              <a:buNone/>
            </a:pPr>
            <a:r>
              <a:rPr b="0" i="0" lang="en" sz="900" u="none" cap="none" strike="noStrike">
                <a:solidFill>
                  <a:srgbClr val="444444"/>
                </a:solidFill>
                <a:latin typeface="Cambria"/>
                <a:ea typeface="Cambria"/>
                <a:cs typeface="Cambria"/>
                <a:sym typeface="Cambria"/>
              </a:rPr>
              <a:t>Monthly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9"/>
          <p:cNvSpPr/>
          <p:nvPr/>
        </p:nvSpPr>
        <p:spPr>
          <a:xfrm>
            <a:off x="3383280" y="2706624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lang="en" sz="13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1" i="0" lang="en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 /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9"/>
          <p:cNvSpPr/>
          <p:nvPr/>
        </p:nvSpPr>
        <p:spPr>
          <a:xfrm>
            <a:off x="3383280" y="318211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sets × 40% → 1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holds → 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32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9"/>
          <p:cNvSpPr/>
          <p:nvPr/>
        </p:nvSpPr>
        <p:spPr>
          <a:xfrm>
            <a:off x="6126480" y="914400"/>
            <a:ext cx="2651700" cy="2743200"/>
          </a:xfrm>
          <a:prstGeom prst="rect">
            <a:avLst/>
          </a:prstGeom>
          <a:solidFill>
            <a:srgbClr val="F4F4F4"/>
          </a:solidFill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9"/>
          <p:cNvSpPr/>
          <p:nvPr/>
        </p:nvSpPr>
        <p:spPr>
          <a:xfrm>
            <a:off x="6126480" y="100584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CLOSED WIN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9"/>
          <p:cNvSpPr/>
          <p:nvPr/>
        </p:nvSpPr>
        <p:spPr>
          <a:xfrm>
            <a:off x="6126480" y="132588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mbria"/>
              <a:buNone/>
            </a:pPr>
            <a:r>
              <a:rPr b="1" i="0" lang="en" sz="3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3 pts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9"/>
          <p:cNvSpPr/>
          <p:nvPr/>
        </p:nvSpPr>
        <p:spPr>
          <a:xfrm>
            <a:off x="6217920" y="201168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mbria"/>
              <a:buNone/>
            </a:pPr>
            <a:r>
              <a:rPr b="0" i="1" lang="en" sz="11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Restaurant signs with Seated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9"/>
          <p:cNvSpPr/>
          <p:nvPr/>
        </p:nvSpPr>
        <p:spPr>
          <a:xfrm>
            <a:off x="6217920" y="2468880"/>
            <a:ext cx="2469000" cy="640200"/>
          </a:xfrm>
          <a:prstGeom prst="rect">
            <a:avLst/>
          </a:prstGeom>
          <a:solidFill>
            <a:srgbClr val="FFD85F"/>
          </a:solidFill>
          <a:ln cap="flat" cmpd="sng" w="12700">
            <a:solidFill>
              <a:srgbClr val="FFD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9"/>
          <p:cNvSpPr/>
          <p:nvPr/>
        </p:nvSpPr>
        <p:spPr>
          <a:xfrm>
            <a:off x="6217920" y="2487168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mbria"/>
              <a:buNone/>
            </a:pPr>
            <a:r>
              <a:rPr b="0" i="0" lang="en" sz="900" u="none" cap="none" strike="noStrike">
                <a:solidFill>
                  <a:srgbClr val="444444"/>
                </a:solidFill>
                <a:latin typeface="Cambria"/>
                <a:ea typeface="Cambria"/>
                <a:cs typeface="Cambria"/>
                <a:sym typeface="Cambria"/>
              </a:rPr>
              <a:t>Monthly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9"/>
          <p:cNvSpPr/>
          <p:nvPr/>
        </p:nvSpPr>
        <p:spPr>
          <a:xfrm>
            <a:off x="6217920" y="2706624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mbria"/>
              <a:buNone/>
            </a:pPr>
            <a:r>
              <a:rPr b="1" lang="en" sz="1300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1" i="0" lang="en" sz="13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 /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9"/>
          <p:cNvSpPr/>
          <p:nvPr/>
        </p:nvSpPr>
        <p:spPr>
          <a:xfrm>
            <a:off x="6217920" y="318211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holds × 35% → 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6 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closes → 1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9"/>
          <p:cNvSpPr/>
          <p:nvPr/>
        </p:nvSpPr>
        <p:spPr>
          <a:xfrm>
            <a:off x="457200" y="3840480"/>
            <a:ext cx="8229600" cy="10059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9"/>
          <p:cNvSpPr/>
          <p:nvPr/>
        </p:nvSpPr>
        <p:spPr>
          <a:xfrm>
            <a:off x="685800" y="3913632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Monthly pts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9"/>
          <p:cNvSpPr/>
          <p:nvPr/>
        </p:nvSpPr>
        <p:spPr>
          <a:xfrm>
            <a:off x="685800" y="413308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85F"/>
              </a:buClr>
              <a:buSzPts val="2200"/>
              <a:buFont typeface="Cambria"/>
              <a:buNone/>
            </a:pPr>
            <a:r>
              <a:rPr b="1" lang="en" sz="2200" strike="sng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90</a:t>
            </a:r>
            <a:r>
              <a:rPr b="1" i="0" lang="en" sz="2200" u="none" cap="none" strike="sng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 pts </a:t>
            </a:r>
            <a:r>
              <a:rPr b="1" lang="en" sz="2200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80 pts</a:t>
            </a:r>
            <a:endParaRPr b="1" i="0" sz="2200" u="non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8" name="Google Shape;478;p49"/>
          <p:cNvSpPr/>
          <p:nvPr/>
        </p:nvSpPr>
        <p:spPr>
          <a:xfrm>
            <a:off x="685800" y="4535424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+ 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34</a:t>
            </a: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 + </a:t>
            </a:r>
            <a:r>
              <a:rPr i="1" lang="en" sz="90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16: s/b 90, 10 pt reduction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9"/>
          <p:cNvSpPr/>
          <p:nvPr/>
        </p:nvSpPr>
        <p:spPr>
          <a:xfrm>
            <a:off x="2743200" y="3913632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Monthly variable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9"/>
          <p:cNvSpPr/>
          <p:nvPr/>
        </p:nvSpPr>
        <p:spPr>
          <a:xfrm>
            <a:off x="2743200" y="413308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85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$2,000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9"/>
          <p:cNvSpPr/>
          <p:nvPr/>
        </p:nvSpPr>
        <p:spPr>
          <a:xfrm>
            <a:off x="2743200" y="4535424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at 100% attainment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9"/>
          <p:cNvSpPr/>
          <p:nvPr/>
        </p:nvSpPr>
        <p:spPr>
          <a:xfrm>
            <a:off x="6858000" y="3913632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No 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9"/>
          <p:cNvSpPr/>
          <p:nvPr/>
        </p:nvSpPr>
        <p:spPr>
          <a:xfrm>
            <a:off x="6858000" y="413308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85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D85F"/>
                </a:solidFill>
                <a:latin typeface="Cambria"/>
                <a:ea typeface="Cambria"/>
                <a:cs typeface="Cambria"/>
                <a:sym typeface="Cambria"/>
              </a:rPr>
              <a:t>Uncapped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9"/>
          <p:cNvSpPr/>
          <p:nvPr/>
        </p:nvSpPr>
        <p:spPr>
          <a:xfrm>
            <a:off x="6858000" y="4535424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mbria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rPr>
              <a:t>exceed target = earn more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E42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0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0"/>
          <p:cNvSpPr/>
          <p:nvPr/>
        </p:nvSpPr>
        <p:spPr>
          <a:xfrm>
            <a:off x="411480" y="201168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3400"/>
              <a:buFont typeface="Times New Roman"/>
              <a:buNone/>
            </a:pPr>
            <a:r>
              <a:rPr b="1" i="0" lang="en" sz="34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Accelerator: Beat Target, Earn More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0"/>
          <p:cNvSpPr/>
          <p:nvPr/>
        </p:nvSpPr>
        <p:spPr>
          <a:xfrm>
            <a:off x="411480" y="96012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EC8"/>
              </a:buClr>
              <a:buSzPts val="1300"/>
              <a:buFont typeface="DM Sans"/>
              <a:buNone/>
            </a:pPr>
            <a:r>
              <a:rPr b="0" i="1" lang="en" sz="1300" u="none" cap="none" strike="noStrike">
                <a:solidFill>
                  <a:srgbClr val="B8CEC8"/>
                </a:solidFill>
                <a:latin typeface="DM Sans"/>
                <a:ea typeface="DM Sans"/>
                <a:cs typeface="DM Sans"/>
                <a:sym typeface="DM Sans"/>
              </a:rPr>
              <a:t>Same structure as the AE accelerator — exceeding </a:t>
            </a:r>
            <a:r>
              <a:rPr i="1" lang="en" sz="1300">
                <a:solidFill>
                  <a:srgbClr val="B8CEC8"/>
                </a:solidFill>
                <a:latin typeface="DM Sans"/>
                <a:ea typeface="DM Sans"/>
                <a:cs typeface="DM Sans"/>
                <a:sym typeface="DM Sans"/>
              </a:rPr>
              <a:t>80</a:t>
            </a:r>
            <a:r>
              <a:rPr b="0" i="1" lang="en" sz="1300" u="none" cap="none" strike="noStrike">
                <a:solidFill>
                  <a:srgbClr val="B8CEC8"/>
                </a:solidFill>
                <a:latin typeface="DM Sans"/>
                <a:ea typeface="DM Sans"/>
                <a:cs typeface="DM Sans"/>
                <a:sym typeface="DM Sans"/>
              </a:rPr>
              <a:t> pts unlocks a boosted rate on your full monthly payout.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0"/>
          <p:cNvSpPr/>
          <p:nvPr/>
        </p:nvSpPr>
        <p:spPr>
          <a:xfrm>
            <a:off x="411480" y="1316736"/>
            <a:ext cx="1417200" cy="3474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0"/>
          <p:cNvSpPr/>
          <p:nvPr/>
        </p:nvSpPr>
        <p:spPr>
          <a:xfrm>
            <a:off x="457200" y="1316736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DM Sans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Attainment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0"/>
          <p:cNvSpPr/>
          <p:nvPr/>
        </p:nvSpPr>
        <p:spPr>
          <a:xfrm>
            <a:off x="1828800" y="1316736"/>
            <a:ext cx="1508700" cy="3474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0"/>
          <p:cNvSpPr/>
          <p:nvPr/>
        </p:nvSpPr>
        <p:spPr>
          <a:xfrm>
            <a:off x="1874520" y="1316736"/>
            <a:ext cx="141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DM Sans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Points / 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0"/>
          <p:cNvSpPr/>
          <p:nvPr/>
        </p:nvSpPr>
        <p:spPr>
          <a:xfrm>
            <a:off x="3337560" y="1316736"/>
            <a:ext cx="1371600" cy="3474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0"/>
          <p:cNvSpPr/>
          <p:nvPr/>
        </p:nvSpPr>
        <p:spPr>
          <a:xfrm>
            <a:off x="3383280" y="1316736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DM Sans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Accelerator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0"/>
          <p:cNvSpPr/>
          <p:nvPr/>
        </p:nvSpPr>
        <p:spPr>
          <a:xfrm>
            <a:off x="4709160" y="1316736"/>
            <a:ext cx="1965900" cy="3474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0"/>
          <p:cNvSpPr/>
          <p:nvPr/>
        </p:nvSpPr>
        <p:spPr>
          <a:xfrm>
            <a:off x="4754880" y="1316736"/>
            <a:ext cx="1874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DM Sans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Monthly Variable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0"/>
          <p:cNvSpPr/>
          <p:nvPr/>
        </p:nvSpPr>
        <p:spPr>
          <a:xfrm>
            <a:off x="6675120" y="1316736"/>
            <a:ext cx="2103000" cy="3474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0"/>
          <p:cNvSpPr/>
          <p:nvPr/>
        </p:nvSpPr>
        <p:spPr>
          <a:xfrm>
            <a:off x="6720840" y="1316736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DM Sans"/>
              <a:buNone/>
            </a:pPr>
            <a:r>
              <a:rPr b="1" i="0" lang="en" sz="10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Annual vs. 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0"/>
          <p:cNvSpPr/>
          <p:nvPr/>
        </p:nvSpPr>
        <p:spPr>
          <a:xfrm>
            <a:off x="411480" y="1682496"/>
            <a:ext cx="1417200" cy="402300"/>
          </a:xfrm>
          <a:prstGeom prst="rect">
            <a:avLst/>
          </a:prstGeom>
          <a:solidFill>
            <a:srgbClr val="1E3D33"/>
          </a:solidFill>
          <a:ln cap="flat" cmpd="sng" w="12700">
            <a:solidFill>
              <a:srgbClr val="1E3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0"/>
          <p:cNvSpPr/>
          <p:nvPr/>
        </p:nvSpPr>
        <p:spPr>
          <a:xfrm>
            <a:off x="1828800" y="1682496"/>
            <a:ext cx="1508700" cy="402300"/>
          </a:xfrm>
          <a:prstGeom prst="rect">
            <a:avLst/>
          </a:prstGeom>
          <a:solidFill>
            <a:srgbClr val="1E3D33"/>
          </a:solidFill>
          <a:ln cap="flat" cmpd="sng" w="12700">
            <a:solidFill>
              <a:srgbClr val="1E3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0"/>
          <p:cNvSpPr/>
          <p:nvPr/>
        </p:nvSpPr>
        <p:spPr>
          <a:xfrm>
            <a:off x="3337560" y="1682496"/>
            <a:ext cx="1371600" cy="402300"/>
          </a:xfrm>
          <a:prstGeom prst="rect">
            <a:avLst/>
          </a:prstGeom>
          <a:solidFill>
            <a:srgbClr val="1E3D33"/>
          </a:solidFill>
          <a:ln cap="flat" cmpd="sng" w="12700">
            <a:solidFill>
              <a:srgbClr val="1E3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0"/>
          <p:cNvSpPr/>
          <p:nvPr/>
        </p:nvSpPr>
        <p:spPr>
          <a:xfrm>
            <a:off x="4709160" y="1682496"/>
            <a:ext cx="1965900" cy="402300"/>
          </a:xfrm>
          <a:prstGeom prst="rect">
            <a:avLst/>
          </a:prstGeom>
          <a:solidFill>
            <a:srgbClr val="1E3D33"/>
          </a:solidFill>
          <a:ln cap="flat" cmpd="sng" w="12700">
            <a:solidFill>
              <a:srgbClr val="1E3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0"/>
          <p:cNvSpPr/>
          <p:nvPr/>
        </p:nvSpPr>
        <p:spPr>
          <a:xfrm>
            <a:off x="6675120" y="1682496"/>
            <a:ext cx="2103000" cy="402300"/>
          </a:xfrm>
          <a:prstGeom prst="rect">
            <a:avLst/>
          </a:prstGeom>
          <a:solidFill>
            <a:srgbClr val="1E3D33"/>
          </a:solidFill>
          <a:ln cap="flat" cmpd="sng" w="12700">
            <a:solidFill>
              <a:srgbClr val="1E3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0"/>
          <p:cNvSpPr/>
          <p:nvPr/>
        </p:nvSpPr>
        <p:spPr>
          <a:xfrm>
            <a:off x="457200" y="1691640"/>
            <a:ext cx="132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0"/>
          <p:cNvSpPr/>
          <p:nvPr/>
        </p:nvSpPr>
        <p:spPr>
          <a:xfrm>
            <a:off x="1874520" y="1691640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lang="en" sz="1300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80</a:t>
            </a:r>
            <a:r>
              <a:rPr b="0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50"/>
          <p:cNvSpPr/>
          <p:nvPr/>
        </p:nvSpPr>
        <p:spPr>
          <a:xfrm>
            <a:off x="3383280" y="1691640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0"/>
          <p:cNvSpPr/>
          <p:nvPr/>
        </p:nvSpPr>
        <p:spPr>
          <a:xfrm>
            <a:off x="4754880" y="1691640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$1,833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0"/>
          <p:cNvSpPr/>
          <p:nvPr/>
        </p:nvSpPr>
        <p:spPr>
          <a:xfrm>
            <a:off x="6720840" y="16916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200"/>
              <a:buFont typeface="DM Sans"/>
              <a:buNone/>
            </a:pPr>
            <a:r>
              <a:rPr b="0" i="0" lang="en" sz="12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OTE  ($70K)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0"/>
          <p:cNvSpPr/>
          <p:nvPr/>
        </p:nvSpPr>
        <p:spPr>
          <a:xfrm>
            <a:off x="411480" y="2084832"/>
            <a:ext cx="8366700" cy="183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0"/>
          <p:cNvSpPr/>
          <p:nvPr/>
        </p:nvSpPr>
        <p:spPr>
          <a:xfrm>
            <a:off x="411480" y="2103120"/>
            <a:ext cx="14172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0"/>
          <p:cNvSpPr/>
          <p:nvPr/>
        </p:nvSpPr>
        <p:spPr>
          <a:xfrm>
            <a:off x="1828800" y="2103120"/>
            <a:ext cx="15087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0"/>
          <p:cNvSpPr/>
          <p:nvPr/>
        </p:nvSpPr>
        <p:spPr>
          <a:xfrm>
            <a:off x="3337560" y="2103120"/>
            <a:ext cx="13716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0"/>
          <p:cNvSpPr/>
          <p:nvPr/>
        </p:nvSpPr>
        <p:spPr>
          <a:xfrm>
            <a:off x="4709160" y="2103120"/>
            <a:ext cx="19659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0"/>
          <p:cNvSpPr/>
          <p:nvPr/>
        </p:nvSpPr>
        <p:spPr>
          <a:xfrm>
            <a:off x="6675120" y="2103120"/>
            <a:ext cx="21030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0"/>
          <p:cNvSpPr/>
          <p:nvPr/>
        </p:nvSpPr>
        <p:spPr>
          <a:xfrm>
            <a:off x="457200" y="2112264"/>
            <a:ext cx="132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110%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0"/>
          <p:cNvSpPr/>
          <p:nvPr/>
        </p:nvSpPr>
        <p:spPr>
          <a:xfrm>
            <a:off x="1874520" y="2112264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lang="en" sz="1300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88</a:t>
            </a:r>
            <a:r>
              <a:rPr b="0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0"/>
          <p:cNvSpPr/>
          <p:nvPr/>
        </p:nvSpPr>
        <p:spPr>
          <a:xfrm>
            <a:off x="3383280" y="211226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+5%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0"/>
          <p:cNvSpPr/>
          <p:nvPr/>
        </p:nvSpPr>
        <p:spPr>
          <a:xfrm>
            <a:off x="4754880" y="2112264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$2,108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0"/>
          <p:cNvSpPr/>
          <p:nvPr/>
        </p:nvSpPr>
        <p:spPr>
          <a:xfrm>
            <a:off x="6720840" y="2112264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DM Sans"/>
              <a:buNone/>
            </a:pPr>
            <a:r>
              <a:rPr b="0" i="0" lang="en" sz="12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+$3.3K  ($73K)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50"/>
          <p:cNvSpPr/>
          <p:nvPr/>
        </p:nvSpPr>
        <p:spPr>
          <a:xfrm>
            <a:off x="411480" y="2505456"/>
            <a:ext cx="8366700" cy="183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>
            <a:off x="411480" y="2523744"/>
            <a:ext cx="14172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>
            <a:off x="1828800" y="2523744"/>
            <a:ext cx="15087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>
            <a:off x="3337560" y="2523744"/>
            <a:ext cx="13716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0"/>
          <p:cNvSpPr/>
          <p:nvPr/>
        </p:nvSpPr>
        <p:spPr>
          <a:xfrm>
            <a:off x="4709160" y="2523744"/>
            <a:ext cx="19659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>
            <a:off x="6675120" y="2523744"/>
            <a:ext cx="21030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0"/>
          <p:cNvSpPr/>
          <p:nvPr/>
        </p:nvSpPr>
        <p:spPr>
          <a:xfrm>
            <a:off x="457200" y="2532888"/>
            <a:ext cx="132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0"/>
          <p:cNvSpPr/>
          <p:nvPr/>
        </p:nvSpPr>
        <p:spPr>
          <a:xfrm>
            <a:off x="1874520" y="2532888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0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300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r>
              <a:rPr b="0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50"/>
          <p:cNvSpPr/>
          <p:nvPr/>
        </p:nvSpPr>
        <p:spPr>
          <a:xfrm>
            <a:off x="3383280" y="253288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+10%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0"/>
          <p:cNvSpPr/>
          <p:nvPr/>
        </p:nvSpPr>
        <p:spPr>
          <a:xfrm>
            <a:off x="4754880" y="2532888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$2,291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6720840" y="253288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DM Sans"/>
              <a:buNone/>
            </a:pPr>
            <a:r>
              <a:rPr b="0" i="0" lang="en" sz="12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+$5.5K  ($76K)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0"/>
          <p:cNvSpPr/>
          <p:nvPr/>
        </p:nvSpPr>
        <p:spPr>
          <a:xfrm>
            <a:off x="411480" y="2926080"/>
            <a:ext cx="8366700" cy="183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0"/>
          <p:cNvSpPr/>
          <p:nvPr/>
        </p:nvSpPr>
        <p:spPr>
          <a:xfrm>
            <a:off x="411480" y="2944368"/>
            <a:ext cx="14172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0"/>
          <p:cNvSpPr/>
          <p:nvPr/>
        </p:nvSpPr>
        <p:spPr>
          <a:xfrm>
            <a:off x="1828800" y="2944368"/>
            <a:ext cx="15087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0"/>
          <p:cNvSpPr/>
          <p:nvPr/>
        </p:nvSpPr>
        <p:spPr>
          <a:xfrm>
            <a:off x="3337560" y="2944368"/>
            <a:ext cx="13716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0"/>
          <p:cNvSpPr/>
          <p:nvPr/>
        </p:nvSpPr>
        <p:spPr>
          <a:xfrm>
            <a:off x="4709160" y="2944368"/>
            <a:ext cx="19659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0"/>
          <p:cNvSpPr/>
          <p:nvPr/>
        </p:nvSpPr>
        <p:spPr>
          <a:xfrm>
            <a:off x="6675120" y="2944368"/>
            <a:ext cx="2103000" cy="402300"/>
          </a:xfrm>
          <a:prstGeom prst="rect">
            <a:avLst/>
          </a:prstGeom>
          <a:solidFill>
            <a:srgbClr val="1E3530"/>
          </a:solidFill>
          <a:ln cap="flat" cmpd="sng" w="12700">
            <a:solidFill>
              <a:srgbClr val="1E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0"/>
          <p:cNvSpPr/>
          <p:nvPr/>
        </p:nvSpPr>
        <p:spPr>
          <a:xfrm>
            <a:off x="457200" y="2953512"/>
            <a:ext cx="132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120%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50"/>
          <p:cNvSpPr/>
          <p:nvPr/>
        </p:nvSpPr>
        <p:spPr>
          <a:xfrm>
            <a:off x="1874520" y="2953512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0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137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0"/>
          <p:cNvSpPr/>
          <p:nvPr/>
        </p:nvSpPr>
        <p:spPr>
          <a:xfrm>
            <a:off x="3383280" y="2953512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+15%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0"/>
          <p:cNvSpPr/>
          <p:nvPr/>
        </p:nvSpPr>
        <p:spPr>
          <a:xfrm>
            <a:off x="4754880" y="2953512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$2,475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0"/>
          <p:cNvSpPr/>
          <p:nvPr/>
        </p:nvSpPr>
        <p:spPr>
          <a:xfrm>
            <a:off x="6720840" y="2953512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DM Sans"/>
              <a:buNone/>
            </a:pPr>
            <a:r>
              <a:rPr b="0" i="0" lang="en" sz="12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+$7.7K  ($78K)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0"/>
          <p:cNvSpPr/>
          <p:nvPr/>
        </p:nvSpPr>
        <p:spPr>
          <a:xfrm>
            <a:off x="411480" y="3346704"/>
            <a:ext cx="8366700" cy="183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0"/>
          <p:cNvSpPr/>
          <p:nvPr/>
        </p:nvSpPr>
        <p:spPr>
          <a:xfrm>
            <a:off x="411480" y="3364992"/>
            <a:ext cx="14172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0"/>
          <p:cNvSpPr/>
          <p:nvPr/>
        </p:nvSpPr>
        <p:spPr>
          <a:xfrm>
            <a:off x="1828800" y="3364992"/>
            <a:ext cx="15087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0"/>
          <p:cNvSpPr/>
          <p:nvPr/>
        </p:nvSpPr>
        <p:spPr>
          <a:xfrm>
            <a:off x="3337560" y="3364992"/>
            <a:ext cx="13716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0"/>
          <p:cNvSpPr/>
          <p:nvPr/>
        </p:nvSpPr>
        <p:spPr>
          <a:xfrm>
            <a:off x="4709160" y="3364992"/>
            <a:ext cx="19659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0"/>
          <p:cNvSpPr/>
          <p:nvPr/>
        </p:nvSpPr>
        <p:spPr>
          <a:xfrm>
            <a:off x="6675120" y="3364992"/>
            <a:ext cx="2103000" cy="402300"/>
          </a:xfrm>
          <a:prstGeom prst="rect">
            <a:avLst/>
          </a:prstGeom>
          <a:solidFill>
            <a:srgbClr val="243F35"/>
          </a:solidFill>
          <a:ln cap="flat" cmpd="sng" w="12700">
            <a:solidFill>
              <a:srgbClr val="243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0"/>
          <p:cNvSpPr/>
          <p:nvPr/>
        </p:nvSpPr>
        <p:spPr>
          <a:xfrm>
            <a:off x="457200" y="3374136"/>
            <a:ext cx="132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130%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0"/>
          <p:cNvSpPr/>
          <p:nvPr/>
        </p:nvSpPr>
        <p:spPr>
          <a:xfrm>
            <a:off x="1874520" y="3374136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300"/>
              <a:buFont typeface="DM Sans"/>
              <a:buNone/>
            </a:pPr>
            <a:r>
              <a:rPr b="0" i="0" lang="en" sz="13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148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50"/>
          <p:cNvSpPr/>
          <p:nvPr/>
        </p:nvSpPr>
        <p:spPr>
          <a:xfrm>
            <a:off x="3383280" y="3374136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FFAB40"/>
                </a:solidFill>
                <a:latin typeface="DM Sans"/>
                <a:ea typeface="DM Sans"/>
                <a:cs typeface="DM Sans"/>
                <a:sym typeface="DM Sans"/>
              </a:rPr>
              <a:t>+15%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0"/>
          <p:cNvSpPr/>
          <p:nvPr/>
        </p:nvSpPr>
        <p:spPr>
          <a:xfrm>
            <a:off x="4754880" y="3374136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FFFD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$2,658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50"/>
          <p:cNvSpPr/>
          <p:nvPr/>
        </p:nvSpPr>
        <p:spPr>
          <a:xfrm>
            <a:off x="6720840" y="3374136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DM Sans"/>
              <a:buNone/>
            </a:pPr>
            <a:r>
              <a:rPr b="0" i="0" lang="en" sz="1200" u="none" cap="none" strike="noStrike">
                <a:solidFill>
                  <a:srgbClr val="0097A7"/>
                </a:solidFill>
                <a:latin typeface="DM Sans"/>
                <a:ea typeface="DM Sans"/>
                <a:cs typeface="DM Sans"/>
                <a:sym typeface="DM Sans"/>
              </a:rPr>
              <a:t>+$9.9K  ($80K)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0"/>
          <p:cNvSpPr/>
          <p:nvPr/>
        </p:nvSpPr>
        <p:spPr>
          <a:xfrm>
            <a:off x="411480" y="3767328"/>
            <a:ext cx="8366700" cy="18300"/>
          </a:xfrm>
          <a:prstGeom prst="rect">
            <a:avLst/>
          </a:prstGeom>
          <a:solidFill>
            <a:srgbClr val="3B6355"/>
          </a:solidFill>
          <a:ln cap="flat" cmpd="sng" w="12700">
            <a:solidFill>
              <a:srgbClr val="3B6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0"/>
          <p:cNvSpPr/>
          <p:nvPr/>
        </p:nvSpPr>
        <p:spPr>
          <a:xfrm>
            <a:off x="411480" y="3785616"/>
            <a:ext cx="1417200" cy="4023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0"/>
          <p:cNvSpPr/>
          <p:nvPr/>
        </p:nvSpPr>
        <p:spPr>
          <a:xfrm>
            <a:off x="1828800" y="3785616"/>
            <a:ext cx="1508700" cy="4023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0"/>
          <p:cNvSpPr/>
          <p:nvPr/>
        </p:nvSpPr>
        <p:spPr>
          <a:xfrm>
            <a:off x="3337560" y="3785616"/>
            <a:ext cx="1371600" cy="4023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0"/>
          <p:cNvSpPr/>
          <p:nvPr/>
        </p:nvSpPr>
        <p:spPr>
          <a:xfrm>
            <a:off x="4709160" y="3785616"/>
            <a:ext cx="1965900" cy="4023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0"/>
          <p:cNvSpPr/>
          <p:nvPr/>
        </p:nvSpPr>
        <p:spPr>
          <a:xfrm>
            <a:off x="6675120" y="3785616"/>
            <a:ext cx="2103000" cy="4023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0"/>
          <p:cNvSpPr/>
          <p:nvPr/>
        </p:nvSpPr>
        <p:spPr>
          <a:xfrm>
            <a:off x="457200" y="3794760"/>
            <a:ext cx="132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42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2C4E42"/>
                </a:solidFill>
                <a:latin typeface="DM Sans"/>
                <a:ea typeface="DM Sans"/>
                <a:cs typeface="DM Sans"/>
                <a:sym typeface="DM Sans"/>
              </a:rPr>
              <a:t>150%+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0"/>
          <p:cNvSpPr/>
          <p:nvPr/>
        </p:nvSpPr>
        <p:spPr>
          <a:xfrm>
            <a:off x="1874520" y="3794760"/>
            <a:ext cx="141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42"/>
              </a:buClr>
              <a:buSzPts val="1300"/>
              <a:buFont typeface="DM Sans"/>
              <a:buNone/>
            </a:pPr>
            <a:r>
              <a:rPr b="0" i="0" lang="en" sz="1300" u="none" cap="none" strike="noStrike">
                <a:solidFill>
                  <a:srgbClr val="2C4E42"/>
                </a:solidFill>
                <a:latin typeface="DM Sans"/>
                <a:ea typeface="DM Sans"/>
                <a:cs typeface="DM Sans"/>
                <a:sym typeface="DM Sans"/>
              </a:rPr>
              <a:t>171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0"/>
          <p:cNvSpPr/>
          <p:nvPr/>
        </p:nvSpPr>
        <p:spPr>
          <a:xfrm>
            <a:off x="3383280" y="3794760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42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2C4E42"/>
                </a:solidFill>
                <a:latin typeface="DM Sans"/>
                <a:ea typeface="DM Sans"/>
                <a:cs typeface="DM Sans"/>
                <a:sym typeface="DM Sans"/>
              </a:rPr>
              <a:t>+20%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0"/>
          <p:cNvSpPr/>
          <p:nvPr/>
        </p:nvSpPr>
        <p:spPr>
          <a:xfrm>
            <a:off x="4754880" y="3794760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42"/>
              </a:buClr>
              <a:buSzPts val="1600"/>
              <a:buFont typeface="Times New Roman"/>
              <a:buNone/>
            </a:pPr>
            <a:r>
              <a:rPr b="1" i="0" lang="en" sz="1600" u="none" cap="none" strike="noStrike">
                <a:solidFill>
                  <a:srgbClr val="2C4E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$3,116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0"/>
          <p:cNvSpPr/>
          <p:nvPr/>
        </p:nvSpPr>
        <p:spPr>
          <a:xfrm>
            <a:off x="6720840" y="379476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42"/>
              </a:buClr>
              <a:buSzPts val="1200"/>
              <a:buFont typeface="DM Sans"/>
              <a:buNone/>
            </a:pPr>
            <a:r>
              <a:rPr b="0" i="0" lang="en" sz="1200" u="none" cap="none" strike="noStrike">
                <a:solidFill>
                  <a:srgbClr val="2C4E42"/>
                </a:solidFill>
                <a:latin typeface="DM Sans"/>
                <a:ea typeface="DM Sans"/>
                <a:cs typeface="DM Sans"/>
                <a:sym typeface="DM Sans"/>
              </a:rPr>
              <a:t>+$15.4K  ($85K)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0"/>
          <p:cNvSpPr/>
          <p:nvPr/>
        </p:nvSpPr>
        <p:spPr>
          <a:xfrm>
            <a:off x="411480" y="4663440"/>
            <a:ext cx="8366700" cy="320100"/>
          </a:xfrm>
          <a:prstGeom prst="rect">
            <a:avLst/>
          </a:prstGeom>
          <a:solidFill>
            <a:srgbClr val="000000">
              <a:alpha val="40000"/>
            </a:srgbClr>
          </a:solidFill>
          <a:ln cap="flat" cmpd="sng" w="12700">
            <a:solidFill>
              <a:srgbClr val="0000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0"/>
          <p:cNvSpPr/>
          <p:nvPr/>
        </p:nvSpPr>
        <p:spPr>
          <a:xfrm>
            <a:off x="411480" y="4663440"/>
            <a:ext cx="8366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7"/>
              </a:buClr>
              <a:buSzPts val="1000"/>
              <a:buFont typeface="DM Sans"/>
              <a:buNone/>
            </a:pPr>
            <a:r>
              <a:rPr b="0" i="1" lang="en" sz="1000" u="none" cap="none" strike="noStrike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Accelerator applies to total monthly payout, not just points above target. At 150 pts (132% attainment), +15% kicks in → $2,686/mo.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0"/>
          <p:cNvSpPr txBox="1"/>
          <p:nvPr/>
        </p:nvSpPr>
        <p:spPr>
          <a:xfrm>
            <a:off x="353075" y="243350"/>
            <a:ext cx="2514600" cy="939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MATH IS WRONG BUT WE’RE GOING TO TALK ABOUT IT BECAUSE IT’S ILLUSTRATIVE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1"/>
          <p:cNvSpPr txBox="1"/>
          <p:nvPr/>
        </p:nvSpPr>
        <p:spPr>
          <a:xfrm>
            <a:off x="1848575" y="2122950"/>
            <a:ext cx="56868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Expectations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2"/>
          <p:cNvSpPr txBox="1"/>
          <p:nvPr/>
        </p:nvSpPr>
        <p:spPr>
          <a:xfrm>
            <a:off x="1848575" y="2122950"/>
            <a:ext cx="56868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Expectations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3"/>
          <p:cNvSpPr txBox="1"/>
          <p:nvPr/>
        </p:nvSpPr>
        <p:spPr>
          <a:xfrm>
            <a:off x="150350" y="283550"/>
            <a:ext cx="70905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Improvement Plans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53"/>
          <p:cNvSpPr txBox="1"/>
          <p:nvPr/>
        </p:nvSpPr>
        <p:spPr>
          <a:xfrm>
            <a:off x="150350" y="1240650"/>
            <a:ext cx="8831100" cy="40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A PIP is intended for performance that appears </a:t>
            </a:r>
            <a:r>
              <a:rPr b="1" lang="en" sz="1000">
                <a:latin typeface="Lora"/>
                <a:ea typeface="Lora"/>
                <a:cs typeface="Lora"/>
                <a:sym typeface="Lora"/>
              </a:rPr>
              <a:t>recoverable with clear expectations and coaching</a:t>
            </a:r>
            <a:r>
              <a:rPr lang="en" sz="1000">
                <a:latin typeface="Lora"/>
                <a:ea typeface="Lora"/>
                <a:cs typeface="Lora"/>
                <a:sym typeface="Lora"/>
              </a:rPr>
              <a:t>.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Lora"/>
                <a:ea typeface="Lora"/>
                <a:cs typeface="Lora"/>
                <a:sym typeface="Lora"/>
              </a:rPr>
              <a:t>Severe underperformance may result in immediate corrective action, up to and including termination, without a PIP.</a:t>
            </a:r>
            <a:endParaRPr b="1"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Examples may include: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Performance </a:t>
            </a:r>
            <a:r>
              <a:rPr b="1" lang="en" sz="1000">
                <a:latin typeface="Lora"/>
                <a:ea typeface="Lora"/>
                <a:cs typeface="Lora"/>
                <a:sym typeface="Lora"/>
              </a:rPr>
              <a:t>materially below 50% of quota</a:t>
            </a:r>
            <a:r>
              <a:rPr lang="en" sz="1000">
                <a:latin typeface="Lora"/>
                <a:ea typeface="Lora"/>
                <a:cs typeface="Lora"/>
                <a:sym typeface="Lora"/>
              </a:rPr>
              <a:t>, including results around </a:t>
            </a:r>
            <a:r>
              <a:rPr b="1" lang="en" sz="1000">
                <a:latin typeface="Lora"/>
                <a:ea typeface="Lora"/>
                <a:cs typeface="Lora"/>
                <a:sym typeface="Lora"/>
              </a:rPr>
              <a:t>30% of quota</a:t>
            </a:r>
            <a:endParaRPr b="1" sz="1000"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ora"/>
              <a:buChar char="●"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Repeated failure to meet core activity expectations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ora"/>
              <a:buChar char="●"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A performance trend that demonstrates the employee is unlikely to meet the requirements of the role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Lora"/>
                <a:ea typeface="Lora"/>
                <a:cs typeface="Lora"/>
                <a:sym typeface="Lora"/>
              </a:rPr>
              <a:t>Below 50% of quota in a single month</a:t>
            </a:r>
            <a:br>
              <a:rPr b="1" lang="en" sz="1000">
                <a:latin typeface="Lora"/>
                <a:ea typeface="Lora"/>
                <a:cs typeface="Lora"/>
                <a:sym typeface="Lora"/>
              </a:rPr>
            </a:br>
            <a:r>
              <a:rPr lang="en" sz="1000">
                <a:latin typeface="Lora"/>
                <a:ea typeface="Lora"/>
                <a:cs typeface="Lora"/>
                <a:sym typeface="Lora"/>
              </a:rPr>
              <a:t> → May result in a PIP </a:t>
            </a:r>
            <a:r>
              <a:rPr b="1" lang="en" sz="1000">
                <a:latin typeface="Lora"/>
                <a:ea typeface="Lora"/>
                <a:cs typeface="Lora"/>
                <a:sym typeface="Lora"/>
              </a:rPr>
              <a:t>or other performance action depending on the severity and circumstances.</a:t>
            </a:r>
            <a:endParaRPr b="1"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Lora"/>
                <a:ea typeface="Lora"/>
                <a:cs typeface="Lora"/>
                <a:sym typeface="Lora"/>
              </a:rPr>
              <a:t>Below 70% on a rolling 3-month average</a:t>
            </a:r>
            <a:br>
              <a:rPr b="1" lang="en" sz="1000">
                <a:latin typeface="Lora"/>
                <a:ea typeface="Lora"/>
                <a:cs typeface="Lora"/>
                <a:sym typeface="Lora"/>
              </a:rPr>
            </a:br>
            <a:r>
              <a:rPr lang="en" sz="1000">
                <a:latin typeface="Lora"/>
                <a:ea typeface="Lora"/>
                <a:cs typeface="Lora"/>
                <a:sym typeface="Lora"/>
              </a:rPr>
              <a:t> → PIP may be initiated for fully ramped reps.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And at the bottom:</a:t>
            </a:r>
            <a:endParaRPr sz="1000">
              <a:latin typeface="Lora"/>
              <a:ea typeface="Lora"/>
              <a:cs typeface="Lora"/>
              <a:sym typeface="Lora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Lora"/>
                <a:ea typeface="Lora"/>
                <a:cs typeface="Lora"/>
                <a:sym typeface="Lora"/>
              </a:rPr>
              <a:t>A PIP is one tool for addressing performance; it is not a required step before termination.</a:t>
            </a:r>
            <a:endParaRPr b="1" sz="10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/>
          <p:cNvSpPr txBox="1"/>
          <p:nvPr/>
        </p:nvSpPr>
        <p:spPr>
          <a:xfrm>
            <a:off x="150350" y="283550"/>
            <a:ext cx="70905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</a:t>
            </a: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Expectations and Performance Improvement Plans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54"/>
          <p:cNvSpPr txBox="1"/>
          <p:nvPr/>
        </p:nvSpPr>
        <p:spPr>
          <a:xfrm>
            <a:off x="150350" y="1240650"/>
            <a:ext cx="8831100" cy="3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latin typeface="Lora"/>
                <a:ea typeface="Lora"/>
                <a:cs typeface="Lora"/>
                <a:sym typeface="Lora"/>
              </a:rPr>
              <a:t>What can trigger a PIP</a:t>
            </a:r>
            <a:endParaRPr b="1" sz="8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</a:pPr>
            <a:r>
              <a:rPr b="1" lang="en" sz="600">
                <a:latin typeface="Lora"/>
                <a:ea typeface="Lora"/>
                <a:cs typeface="Lora"/>
                <a:sym typeface="Lora"/>
              </a:rPr>
              <a:t>Below 50% of quota in any single month </a:t>
            </a:r>
            <a:br>
              <a:rPr b="1" lang="en" sz="600">
                <a:latin typeface="Lora"/>
                <a:ea typeface="Lora"/>
                <a:cs typeface="Lora"/>
                <a:sym typeface="Lora"/>
              </a:rPr>
            </a:br>
            <a:r>
              <a:rPr lang="en" sz="600">
                <a:latin typeface="Lora"/>
                <a:ea typeface="Lora"/>
                <a:cs typeface="Lora"/>
                <a:sym typeface="Lora"/>
              </a:rPr>
              <a:t>Applies during ramp and once fully ramped.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b="1" lang="en" sz="600">
                <a:latin typeface="Lora"/>
                <a:ea typeface="Lora"/>
                <a:cs typeface="Lora"/>
                <a:sym typeface="Lora"/>
              </a:rPr>
              <a:t>Consistently missing required daily KPIs / activity expectations</a:t>
            </a:r>
            <a:br>
              <a:rPr b="1" lang="en" sz="600">
                <a:latin typeface="Lora"/>
                <a:ea typeface="Lora"/>
                <a:cs typeface="Lora"/>
                <a:sym typeface="Lora"/>
              </a:rPr>
            </a:br>
            <a:r>
              <a:rPr lang="en" sz="600">
                <a:latin typeface="Lora"/>
                <a:ea typeface="Lora"/>
                <a:cs typeface="Lora"/>
                <a:sym typeface="Lora"/>
              </a:rPr>
              <a:t> Including calls, DM connects, meetings scheduled, lead creation, or other defined activity standards.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b="1" lang="en" sz="600">
                <a:latin typeface="Lora"/>
                <a:ea typeface="Lora"/>
                <a:cs typeface="Lora"/>
                <a:sym typeface="Lora"/>
              </a:rPr>
              <a:t>Below 70% of quota on a rolling 3-month average</a:t>
            </a:r>
            <a:br>
              <a:rPr b="1" lang="en" sz="600">
                <a:latin typeface="Lora"/>
                <a:ea typeface="Lora"/>
                <a:cs typeface="Lora"/>
                <a:sym typeface="Lora"/>
              </a:rPr>
            </a:br>
            <a:r>
              <a:rPr lang="en" sz="600">
                <a:latin typeface="Lora"/>
                <a:ea typeface="Lora"/>
                <a:cs typeface="Lora"/>
                <a:sym typeface="Lora"/>
              </a:rPr>
              <a:t>Applies once fully ramped.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b="1" lang="en" sz="600">
                <a:latin typeface="Lora"/>
                <a:ea typeface="Lora"/>
                <a:cs typeface="Lora"/>
                <a:sym typeface="Lora"/>
              </a:rPr>
              <a:t>Repeated quality / execution issues</a:t>
            </a:r>
            <a:br>
              <a:rPr b="1" lang="en" sz="600">
                <a:latin typeface="Lora"/>
                <a:ea typeface="Lora"/>
                <a:cs typeface="Lora"/>
                <a:sym typeface="Lora"/>
              </a:rPr>
            </a:br>
            <a:r>
              <a:rPr lang="en" sz="600">
                <a:latin typeface="Lora"/>
                <a:ea typeface="Lora"/>
                <a:cs typeface="Lora"/>
                <a:sym typeface="Lora"/>
              </a:rPr>
              <a:t>Examples: onboarding failure rate above </a:t>
            </a:r>
            <a:r>
              <a:rPr b="1" lang="en" sz="600">
                <a:latin typeface="Lora"/>
                <a:ea typeface="Lora"/>
                <a:cs typeface="Lora"/>
                <a:sym typeface="Lora"/>
              </a:rPr>
              <a:t>5%</a:t>
            </a:r>
            <a:r>
              <a:rPr lang="en" sz="600">
                <a:latin typeface="Lora"/>
                <a:ea typeface="Lora"/>
                <a:cs typeface="Lora"/>
                <a:sym typeface="Lora"/>
              </a:rPr>
              <a:t> or high-risk account rate above </a:t>
            </a:r>
            <a:r>
              <a:rPr b="1" lang="en" sz="600">
                <a:latin typeface="Lora"/>
                <a:ea typeface="Lora"/>
                <a:cs typeface="Lora"/>
                <a:sym typeface="Lora"/>
              </a:rPr>
              <a:t>10%</a:t>
            </a:r>
            <a:r>
              <a:rPr lang="en" sz="600">
                <a:latin typeface="Lora"/>
                <a:ea typeface="Lora"/>
                <a:cs typeface="Lora"/>
                <a:sym typeface="Lora"/>
              </a:rPr>
              <a:t>, where applicable.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latin typeface="Lora"/>
                <a:ea typeface="Lora"/>
                <a:cs typeface="Lora"/>
                <a:sym typeface="Lora"/>
              </a:rPr>
              <a:t>What happens on a PIP</a:t>
            </a:r>
            <a:endParaRPr b="1" sz="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latin typeface="Lora"/>
                <a:ea typeface="Lora"/>
                <a:cs typeface="Lora"/>
                <a:sym typeface="Lora"/>
              </a:rPr>
              <a:t>A PIP is a </a:t>
            </a:r>
            <a:r>
              <a:rPr b="1" lang="en" sz="600">
                <a:latin typeface="Lora"/>
                <a:ea typeface="Lora"/>
                <a:cs typeface="Lora"/>
                <a:sym typeface="Lora"/>
              </a:rPr>
              <a:t>defined improvement period with clear expectations, coaching, and frequent check-ins.</a:t>
            </a:r>
            <a:endParaRPr b="1" sz="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>
                <a:latin typeface="Lora"/>
                <a:ea typeface="Lora"/>
                <a:cs typeface="Lora"/>
                <a:sym typeface="Lora"/>
              </a:rPr>
              <a:t>It will include: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0"/>
              <a:buFont typeface="Lora"/>
              <a:buChar char="●"/>
            </a:pPr>
            <a:r>
              <a:rPr lang="en" sz="600">
                <a:latin typeface="Lora"/>
                <a:ea typeface="Lora"/>
                <a:cs typeface="Lora"/>
                <a:sym typeface="Lora"/>
              </a:rPr>
              <a:t>Specific performance targets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Lora"/>
              <a:buChar char="●"/>
            </a:pPr>
            <a:r>
              <a:rPr lang="en" sz="600">
                <a:latin typeface="Lora"/>
                <a:ea typeface="Lora"/>
                <a:cs typeface="Lora"/>
                <a:sym typeface="Lora"/>
              </a:rPr>
              <a:t>A defined timeframe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Lora"/>
              <a:buChar char="●"/>
            </a:pPr>
            <a:r>
              <a:rPr lang="en" sz="600">
                <a:latin typeface="Lora"/>
                <a:ea typeface="Lora"/>
                <a:cs typeface="Lora"/>
                <a:sym typeface="Lora"/>
              </a:rPr>
              <a:t>Daily/weekly activity expectations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Lora"/>
              <a:buChar char="●"/>
            </a:pPr>
            <a:r>
              <a:rPr lang="en" sz="600">
                <a:latin typeface="Lora"/>
                <a:ea typeface="Lora"/>
                <a:cs typeface="Lora"/>
                <a:sym typeface="Lora"/>
              </a:rPr>
              <a:t>Manager coaching and regular check-ins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Lora"/>
              <a:buChar char="●"/>
            </a:pPr>
            <a:r>
              <a:rPr lang="en" sz="600">
                <a:latin typeface="Lora"/>
                <a:ea typeface="Lora"/>
                <a:cs typeface="Lora"/>
                <a:sym typeface="Lora"/>
              </a:rPr>
              <a:t>Clear checkpoints to measure progress</a:t>
            </a:r>
            <a:endParaRPr sz="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>
                <a:latin typeface="Lora"/>
                <a:ea typeface="Lora"/>
                <a:cs typeface="Lora"/>
                <a:sym typeface="Lora"/>
              </a:rPr>
              <a:t>Successful improvement = return to good standing.</a:t>
            </a:r>
            <a:endParaRPr b="1" sz="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>
                <a:latin typeface="Lora"/>
                <a:ea typeface="Lora"/>
                <a:cs typeface="Lora"/>
                <a:sym typeface="Lora"/>
              </a:rPr>
              <a:t>Failure to meet the expectations of the plan may result in further corrective action, up to and including termination.</a:t>
            </a:r>
            <a:endParaRPr b="1" sz="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>
                <a:latin typeface="Lora"/>
                <a:ea typeface="Lora"/>
                <a:cs typeface="Lora"/>
                <a:sym typeface="Lora"/>
              </a:rPr>
              <a:t>Two PIPs within a 6-month period may result in termination.</a:t>
            </a:r>
            <a:endParaRPr b="1" sz="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5"/>
          <p:cNvSpPr txBox="1"/>
          <p:nvPr/>
        </p:nvSpPr>
        <p:spPr>
          <a:xfrm>
            <a:off x="150350" y="283550"/>
            <a:ext cx="70905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Improvement Plans 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55"/>
          <p:cNvSpPr txBox="1"/>
          <p:nvPr/>
        </p:nvSpPr>
        <p:spPr>
          <a:xfrm>
            <a:off x="150350" y="1240650"/>
            <a:ext cx="8831100" cy="19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are trending towards a PIP based on your performance your manager proactively communicate your performance standings so there are no surprises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placed on a PIP there will be a formal conversation and plan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PIPs can range anywhere from 30 days to 60 days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order to get off a PIP you will need to hit at least 80% To Goal for the months you are on a PIP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6"/>
          <p:cNvSpPr txBox="1"/>
          <p:nvPr/>
        </p:nvSpPr>
        <p:spPr>
          <a:xfrm>
            <a:off x="150350" y="283550"/>
            <a:ext cx="70905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hours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56"/>
          <p:cNvSpPr txBox="1"/>
          <p:nvPr/>
        </p:nvSpPr>
        <p:spPr>
          <a:xfrm>
            <a:off x="156450" y="999400"/>
            <a:ext cx="8831100" cy="19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expected to work 40 hours per week (8 per day)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log the hours worked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 PTO for anything 2+ hours away from your computer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OVERTIME must be written and approved by your manager AHEAD OF WORKING OT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approved working hours can be adjusted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throughout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week to stick to 40 hour weeks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7"/>
          <p:cNvSpPr/>
          <p:nvPr/>
        </p:nvSpPr>
        <p:spPr>
          <a:xfrm>
            <a:off x="293350" y="812750"/>
            <a:ext cx="7773900" cy="325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7"/>
          <p:cNvSpPr txBox="1"/>
          <p:nvPr/>
        </p:nvSpPr>
        <p:spPr>
          <a:xfrm>
            <a:off x="202950" y="261375"/>
            <a:ext cx="8497200" cy="44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Brand = Your Reputation at Scale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What people believe about: - How you show up - What you stand for - What it’s like to work with you - Whether they trust you</a:t>
            </a:r>
            <a:endParaRPr b="1" sz="27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work in a remote environment, how you show up to work is your brand.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brand is important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showing up looks like: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you engage and interact with your coworkers on peers through slack and CRMs - body language / tone of voice matters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you show up professionally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Being on on time for meetings - if you aren’t communicate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camera on for meetings - if you can’t let your manager know ahead of time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Accepting calendar invites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Following through on tasks and doing what you said you would do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you engage with your manager and leaders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Attitude &amp; Effort - two things you can control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92929"/>
      </a:dk1>
      <a:lt1>
        <a:srgbClr val="FFFDF9"/>
      </a:lt1>
      <a:dk2>
        <a:srgbClr val="FEF9F3"/>
      </a:dk2>
      <a:lt2>
        <a:srgbClr val="FCF6EE"/>
      </a:lt2>
      <a:accent1>
        <a:srgbClr val="EFE7DD"/>
      </a:accent1>
      <a:accent2>
        <a:srgbClr val="FCD867"/>
      </a:accent2>
      <a:accent3>
        <a:srgbClr val="3A363D"/>
      </a:accent3>
      <a:accent4>
        <a:srgbClr val="645C6A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